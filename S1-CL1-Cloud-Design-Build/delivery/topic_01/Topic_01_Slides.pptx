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set expectations, don't teach content yet.</a:t>
            </a:r>
          </a:p>
          <a:p>
            <a:r>
              <a:t>• Goal: read it out — by the end they can "speak cloud well enough to write a business case."</a:t>
            </a:r>
          </a:p>
          <a:p>
            <a:r>
              <a:t>That business case IS AT1; everything today feeds it.</a:t>
            </a:r>
          </a:p>
          <a:p>
            <a:r>
              <a:t>• Where this fits: they are MTS consultants advising YAT. Literacy comes before advice — you</a:t>
            </a:r>
          </a:p>
          <a:p>
            <a:r>
              <a:t>can't recommend "renew on-prem vs move to cloud" if you can't name the pieces.</a:t>
            </a:r>
          </a:p>
          <a:p>
            <a:r>
              <a:t>• What they'll do: preview the four verbs — name building blocks, classify models, point to</a:t>
            </a:r>
          </a:p>
          <a:p>
            <a:r>
              <a:t>standards, reason about cost. Each maps to a section today.</a:t>
            </a:r>
          </a:p>
          <a:p>
            <a:r>
              <a:t>• Stress the edge (the bolded line): recognise/explain/classify, NOT build. Building is AT2,</a:t>
            </a:r>
          </a:p>
          <a:p>
            <a:r>
              <a:t>later. Manage the keen student who wants to launch an EC2 instance today.</a:t>
            </a:r>
          </a:p>
          <a:p>
            <a:r>
              <a:t>• How they practise: on YAT's Accounting System (Ledgerline) — a real client system, all term.</a:t>
            </a:r>
          </a:p>
          <a:p>
            <a:r>
              <a:t>Misconception to pre-empt: "cloud = one thing you switch on." No — it's a vocabulary and a set</a:t>
            </a:r>
          </a:p>
          <a:p>
            <a:r>
              <a:t>of choices; today builds that vocabulary.</a:t>
            </a:r>
          </a:p>
          <a:p>
            <a:r>
              <a:t>Question to pose: "Before you can advise a client to move to the cloud, what do you need to</a:t>
            </a:r>
          </a:p>
          <a:p>
            <a:r>
              <a:t>understand first?" — draws out that literacy precedes recommendation.</a:t>
            </a:r>
          </a:p>
          <a:p>
            <a:r>
              <a:t>UoC/AT1 tie: this Topic develops the KE that AT1 Appendix 2 Q1–Q5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vehicle that carries every activity today — Ledgerline, YAT's accounting/office-admin</a:t>
            </a:r>
          </a:p>
          <a:p>
            <a:r>
              <a:t>system. The engagement on their desk: look at moving it to the cloud.</a:t>
            </a:r>
          </a:p>
          <a:p>
            <a:r>
              <a:t>• Walk the shape slowly but tell them NOT to memorise names yet (the bolded line) — you're</a:t>
            </a:r>
          </a:p>
          <a:p>
            <a:r>
              <a:t>planting a picture the rest of the Topic fills in.</a:t>
            </a:r>
          </a:p>
          <a:p>
            <a:r>
              <a:t>• Trace the flow: Internet → ALB (front door) → EC2/Auto Scaling Group (the app on Windows Server)</a:t>
            </a:r>
          </a:p>
          <a:p>
            <a:r>
              <a:t>→ RDS for SQL Server (the database), with S3 for scanned invoices/POs and CloudWatch watching.</a:t>
            </a:r>
          </a:p>
          <a:p>
            <a:r>
              <a:t>• The point: this exact sketch reappears in Section 3 ("How the pieces fit") — the picture builds</a:t>
            </a:r>
          </a:p>
          <a:p>
            <a:r>
              <a:t>as they go, so every service they meet has a home.</a:t>
            </a:r>
          </a:p>
          <a:p>
            <a:r>
              <a:t>Misconception to pre-empt: that this diagram is the answer they must reproduce. It's a familiar</a:t>
            </a:r>
          </a:p>
          <a:p>
            <a:r>
              <a:t>SHAPE, not a mandated design — you're giving them a mental model, not a solution.</a:t>
            </a:r>
          </a:p>
          <a:p>
            <a:r>
              <a:t>Question to pose: "What does an accounting system need that makes 'always available' matter?" —</a:t>
            </a:r>
          </a:p>
          <a:p>
            <a:r>
              <a:t>gets them thinking about business expectations (feeds the next activity).</a:t>
            </a:r>
          </a:p>
          <a:p>
            <a:r>
              <a:t>UoC/AT1 tie: naming these components is KE 2 (industry-standard products); this same web-app</a:t>
            </a:r>
          </a:p>
          <a:p>
            <a:r>
              <a:t>pattern is what AT1's options/cost sections get priced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a client-discovery task, not a lecture. This is their first contact with the</a:t>
            </a:r>
          </a:p>
          <a:p>
            <a:r>
              <a:t>scenario site; get them navigating it independently.</a:t>
            </a:r>
          </a:p>
          <a:p>
            <a:r>
              <a:t>Tell students: "You've just been assigned to the YAT engagement. Before any consultant advises a</a:t>
            </a:r>
          </a:p>
          <a:p>
            <a:r>
              <a:t>client, they learn the business. Open the YAT website and intranet and find the answers — this is</a:t>
            </a:r>
          </a:p>
          <a:p>
            <a:r>
              <a:t>where your client's information lives all term."</a:t>
            </a:r>
          </a:p>
          <a:p>
            <a:r>
              <a:t>Steps (put on the board):</a:t>
            </a:r>
          </a:p>
          <a:p>
            <a:r>
              <a:t>1. What kind of organisation is YAT — what it does, roughly how big.</a:t>
            </a:r>
          </a:p>
          <a:p>
            <a:r>
              <a:t>2. What YAT already uses in the cloud today.</a:t>
            </a:r>
          </a:p>
          <a:p>
            <a:r>
              <a:t>3. What Ledgerline is used for, and who relies on it.</a:t>
            </a:r>
          </a:p>
          <a:p>
            <a:r>
              <a:t>4. Where Ledgerline runs today, and on what infrastructure.</a:t>
            </a:r>
          </a:p>
          <a:p>
            <a:r>
              <a:t>5. What the business expects of it — e.g. when must it be available.</a:t>
            </a:r>
          </a:p>
          <a:p>
            <a:r>
              <a:t>Must produce: short written answers to the five questions (their first scenario notes).</a:t>
            </a:r>
          </a:p>
          <a:p>
            <a:r>
              <a:t>Timing: ~10 min then share. Where they get stuck: they try to Google generic answers instead of</a:t>
            </a:r>
          </a:p>
          <a:p>
            <a:r>
              <a:t>reading YAT's actual intranet — circulate and point them back to the site.</a:t>
            </a:r>
          </a:p>
          <a:p>
            <a:r>
              <a:t>Share-back prompt: "What surprised you about how YAT runs Ledgerline today?"</a:t>
            </a:r>
          </a:p>
          <a:p>
            <a:r>
              <a:t>No-leakage note: YAT/Ledgerline is the PRACTICE client — the assessed system (LMS) is different;</a:t>
            </a:r>
          </a:p>
          <a:p>
            <a:r>
              <a:t>keep them anchored to the scenario site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Section-opener visual (image only) — use it to pivot from the client to the concept. Don't over-run</a:t>
            </a:r>
          </a:p>
          <a:p>
            <a:r>
              <a:t>it; it's a springboard for the definition slide next.</a:t>
            </a:r>
          </a:p>
          <a:p>
            <a:r>
              <a:t>• Ask the room for their own one-line definition of "the cloud" BEFORE revealing anything — surface</a:t>
            </a:r>
          </a:p>
          <a:p>
            <a:r>
              <a:t>the vague answers ("it's the internet", "someone else's computer") so the formal definition next</a:t>
            </a:r>
          </a:p>
          <a:p>
            <a:r>
              <a:t>slide lands as a correction.</a:t>
            </a:r>
          </a:p>
          <a:p>
            <a:r>
              <a:t>• Keep the visual to a talking point: it's a picture of the idea, the precise words come next.</a:t>
            </a:r>
          </a:p>
          <a:p>
            <a:r>
              <a:t>Misconception to pre-empt: "cloud = the internet" or "cloud = storage (Dropbox)." Flag that these</a:t>
            </a:r>
          </a:p>
          <a:p>
            <a:r>
              <a:t>are partial; the real definition is broader (compute, database, storage, apps — on demand).</a:t>
            </a:r>
          </a:p>
          <a:p>
            <a:r>
              <a:t>Question to pose: "If I say 'we moved to the cloud', what actually changed about where the software</a:t>
            </a:r>
          </a:p>
          <a:p>
            <a:r>
              <a:t>runs and how we pay for it?"</a:t>
            </a:r>
          </a:p>
          <a:p>
            <a:r>
              <a:t>UoC/AT1 tie: sets up KE 3 (principles/functions of cloud computing) — the foundation for AT1's</a:t>
            </a:r>
          </a:p>
          <a:p>
            <a:r>
              <a:t>whole premise.</a:t>
            </a:r>
          </a:p>
          <a:p>
            <a:r>
              <a:t>[Thin slide — image only; noted as a discussion springboard.]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anchor definition of the Topic — teach it deliberately; students should be able to</a:t>
            </a:r>
          </a:p>
          <a:p>
            <a:r>
              <a:t>paraphrase it in AT1.</a:t>
            </a:r>
          </a:p>
          <a:p>
            <a:r>
              <a:t>• Read the bolded definition, then unpack each clause: "on-demand" (you ask, you get, no waiting),</a:t>
            </a:r>
          </a:p>
          <a:p>
            <a:r>
              <a:t>"delivery … via the internet", the resource list (compute, database, storage, apps), and</a:t>
            </a:r>
          </a:p>
          <a:p>
            <a:r>
              <a:t>"pay-as-you-go pricing."</a:t>
            </a:r>
          </a:p>
          <a:p>
            <a:r>
              <a:t>• Second bullet: those resources run on real servers in large data centres — cloud isn't magic,</a:t>
            </a:r>
          </a:p>
          <a:p>
            <a:r>
              <a:t>it's someone else's data centre at global scale.</a:t>
            </a:r>
          </a:p>
          <a:p>
            <a:r>
              <a:t>• Third bullet: provision what you need WHEN you need it, pay only for use — this is the economic</a:t>
            </a:r>
          </a:p>
          <a:p>
            <a:r>
              <a:t>hinge that Section 5 (cost) builds on.</a:t>
            </a:r>
          </a:p>
          <a:p>
            <a:r>
              <a:t>Misconception to pre-empt: "on-demand" means free or unlimited. No — it means you can get it</a:t>
            </a:r>
          </a:p>
          <a:p>
            <a:r>
              <a:t>instantly, but you pay for what you use; the meter is always running.</a:t>
            </a:r>
          </a:p>
          <a:p>
            <a:r>
              <a:t>Question to pose: "Which word in this definition is the biggest change from buying a server for</a:t>
            </a:r>
          </a:p>
          <a:p>
            <a:r>
              <a:t>YAT's comms room?" (on-demand / pay-as-you-go — no upfront capex, no guessing capacity).</a:t>
            </a:r>
          </a:p>
          <a:p>
            <a:r>
              <a:t>UoC/AT1 tie: KE 3. This definition is exactly the kind of knowledge AT1 Appendix 2 tests and the</a:t>
            </a:r>
          </a:p>
          <a:p>
            <a:r>
              <a:t>business case's premise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Short, high-leverage conceptual slide — the single mindset shift the whole Topic turns on. Give it</a:t>
            </a:r>
          </a:p>
          <a:p>
            <a:r>
              <a:t>weight despite the one bullet.</a:t>
            </a:r>
          </a:p>
          <a:p>
            <a:r>
              <a:t>• The idea: stop thinking of infrastructure as hardware you buy, rack and cable; think of it — and</a:t>
            </a:r>
          </a:p>
          <a:p>
            <a:r>
              <a:t>USE it — as software you define, request and change with a few clicks or lines of config.</a:t>
            </a:r>
          </a:p>
          <a:p>
            <a:r>
              <a:t>• Make it concrete: "need another server? In the old world you buy and install a box. In the cloud</a:t>
            </a:r>
          </a:p>
          <a:p>
            <a:r>
              <a:t>you request one and it exists in minutes — and you can delete it just as fast."</a:t>
            </a:r>
          </a:p>
          <a:p>
            <a:r>
              <a:t>• This frames the very next two slides (traditional vs cloud model) as the before/after of this</a:t>
            </a:r>
          </a:p>
          <a:p>
            <a:r>
              <a:t>shift.</a:t>
            </a:r>
          </a:p>
          <a:p>
            <a:r>
              <a:t>Misconception to pre-empt: "software" here doesn't mean the cloud has no hardware — the hardware is</a:t>
            </a:r>
          </a:p>
          <a:p>
            <a:r>
              <a:t>still there (last slide), it's just abstracted so YOU interact with it as software.</a:t>
            </a:r>
          </a:p>
          <a:p>
            <a:r>
              <a:t>Question to pose: "If a server is now 'software', what can you do with it that you never could with</a:t>
            </a:r>
          </a:p>
          <a:p>
            <a:r>
              <a:t>a physical box?" (clone it, script it, delete it, scale it up/down on demand).</a:t>
            </a:r>
          </a:p>
          <a:p>
            <a:r>
              <a:t>UoC/AT1 tie: KE 3 — this abstraction is the principle underlying every cloud benefit AT1 argues.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"before" picture — teach it so the cloud model next slide has something to beat. Lean on the</a:t>
            </a:r>
          </a:p>
          <a:p>
            <a:r>
              <a:t>accompanying diagram.</a:t>
            </a:r>
          </a:p>
          <a:p>
            <a:r>
              <a:t>• Walk the three pains: hardware needs space, staff, physical security, planning and CAPITAL</a:t>
            </a:r>
          </a:p>
          <a:p>
            <a:r>
              <a:t>expenditure (money up front); the procurement cycle is LONG (weeks/months to get a server); and</a:t>
            </a:r>
          </a:p>
          <a:p>
            <a:r>
              <a:t>you must size for the theoretical PEAK — guessing the maximum you'll ever need.</a:t>
            </a:r>
          </a:p>
          <a:p>
            <a:r>
              <a:t>• Drive the peak point home: you buy for the busiest hour of the busiest day, then that capacity</a:t>
            </a:r>
          </a:p>
          <a:p>
            <a:r>
              <a:t>sits idle the rest of the time — money spent on "just in case."</a:t>
            </a:r>
          </a:p>
          <a:p>
            <a:r>
              <a:t>Misconception to pre-empt: that on-prem is simply "worse." It isn't always — it's predictable and</a:t>
            </a:r>
          </a:p>
          <a:p>
            <a:r>
              <a:t>fully under your control; the problem is capex, lead time and over-provisioning. Keep it fair so</a:t>
            </a:r>
          </a:p>
          <a:p>
            <a:r>
              <a:t>their AT1 comparison is balanced.</a:t>
            </a:r>
          </a:p>
          <a:p>
            <a:r>
              <a:t>Question to pose: "YAT's Ledgerline server was sized years ago — how would they have guessed how</a:t>
            </a:r>
          </a:p>
          <a:p>
            <a:r>
              <a:t>big to make it, and what does that cost them?"</a:t>
            </a:r>
          </a:p>
          <a:p>
            <a:r>
              <a:t>UoC/AT1 tie: this is the on-prem baseline AT1's cost-benefit analysis (§6) argues against — you're</a:t>
            </a:r>
          </a:p>
          <a:p>
            <a:r>
              <a:t>arming the "before" side of their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"after" picture — deliberately mirror the previous slide point-for-point so the contrast is</a:t>
            </a:r>
          </a:p>
          <a:p>
            <a:r>
              <a:t>clean. Use the diagram.</a:t>
            </a:r>
          </a:p>
          <a:p>
            <a:r>
              <a:t>• Software solutions are FLEXIBLE; they change quickly, easily and cost-effectively (versus buying</a:t>
            </a:r>
          </a:p>
          <a:p>
            <a:r>
              <a:t>hardware); and they eliminate the "undifferentiated heavy lifting."</a:t>
            </a:r>
          </a:p>
          <a:p>
            <a:r>
              <a:t>• Define undifferentiated heavy lifting plainly: the racking, patching, power, cooling — work every</a:t>
            </a:r>
          </a:p>
          <a:p>
            <a:r>
              <a:t>company does identically and that adds no value to YOUR business. AWS does it so YAT's IT can</a:t>
            </a:r>
          </a:p>
          <a:p>
            <a:r>
              <a:t>focus on YAT's work.</a:t>
            </a:r>
          </a:p>
          <a:p>
            <a:r>
              <a:t>Misconception to pre-empt: "flexible and cheap means always cheaper." Not necessarily — an</a:t>
            </a:r>
          </a:p>
          <a:p>
            <a:r>
              <a:t>always-on workload can cost more than owned hardware. The win is flexibility and no upfront capex;</a:t>
            </a:r>
          </a:p>
          <a:p>
            <a:r>
              <a:t>cost depends on the workload shape (Section 5).</a:t>
            </a:r>
          </a:p>
          <a:p>
            <a:r>
              <a:t>Question to pose: "Which of Ledgerline's headaches does 'infrastructure as software' remove — and</a:t>
            </a:r>
          </a:p>
          <a:p>
            <a:r>
              <a:t>which does it NOT?"</a:t>
            </a:r>
          </a:p>
          <a:p>
            <a:r>
              <a:t>UoC/AT1 tie: the "after" side of AT1's cost-benefit; also feeds §2 strategic alignment (why moving</a:t>
            </a:r>
          </a:p>
          <a:p>
            <a:r>
              <a:t>aligns with the business).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Diagram-only slide introducing the deployment-model concept — use the visual to name the models</a:t>
            </a:r>
          </a:p>
          <a:p>
            <a:r>
              <a:t>before the YAT-specific slide applies them.</a:t>
            </a:r>
          </a:p>
          <a:p>
            <a:r>
              <a:t>• Name the four off the diagram: public (shared, provider-run), private (dedicated to one org),</a:t>
            </a:r>
          </a:p>
          <a:p>
            <a:r>
              <a:t>hybrid (a mix of on-prem and cloud), community (shared by orgs with common needs). Define WHERE</a:t>
            </a:r>
          </a:p>
          <a:p>
            <a:r>
              <a:t>the application runs in each — that's the deciding axis.</a:t>
            </a:r>
          </a:p>
          <a:p>
            <a:r>
              <a:t>• Keep it crisp; the real work is the next slide where they see which fits YAT.</a:t>
            </a:r>
          </a:p>
          <a:p>
            <a:r>
              <a:t>Misconception to pre-empt: "public cloud = public/visible to everyone." No — "public" means shared,</a:t>
            </a:r>
          </a:p>
          <a:p>
            <a:r>
              <a:t>multi-tenant infrastructure; your data is still private and isolated. This trips students up every</a:t>
            </a:r>
          </a:p>
          <a:p>
            <a:r>
              <a:t>year.</a:t>
            </a:r>
          </a:p>
          <a:p>
            <a:r>
              <a:t>Question to pose: "Office 365 is already cloud and the comms-room servers are on-prem — so what</a:t>
            </a:r>
          </a:p>
          <a:p>
            <a:r>
              <a:t>deployment model is YAT running RIGHT NOW?" (hybrid — leads straight into the next slide).</a:t>
            </a:r>
          </a:p>
          <a:p>
            <a:r>
              <a:t>UoC/AT1 tie: KE 11 (cloud models: on-premises/private/hybrid/public) — directly tested by AT1</a:t>
            </a:r>
          </a:p>
          <a:p>
            <a:r>
              <a:t>Appendix 2 Q2.</a:t>
            </a:r>
          </a:p>
          <a:p>
            <a:r>
              <a:t>[Thin slide — diagram only; notes drive the naming/definition off the visual.]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models to the actual client — this is where abstract becomes decision-relevant.</a:t>
            </a:r>
          </a:p>
          <a:p>
            <a:r>
              <a:t>• YAT today is HYBRID: on-prem servers in the comms room + Office 365 (SaaS) already in the cloud.</a:t>
            </a:r>
          </a:p>
          <a:p>
            <a:r>
              <a:t>Point out they're not starting from zero.</a:t>
            </a:r>
          </a:p>
          <a:p>
            <a:r>
              <a:t>• The engagement is a straight one: move an on-prem system INTO public cloud. So (bolded line)</a:t>
            </a:r>
          </a:p>
          <a:p>
            <a:r>
              <a:t>public cloud is the model that matters here — know private and hybrid as context, not as the</a:t>
            </a:r>
          </a:p>
          <a:p>
            <a:r>
              <a:t>choice on the table.</a:t>
            </a:r>
          </a:p>
          <a:p>
            <a:r>
              <a:t>• The real question (last bullet) isn't "which of four models" — it's binary: keep Ledgerline</a:t>
            </a:r>
          </a:p>
          <a:p>
            <a:r>
              <a:t>on-prem, or move it to public cloud. This reframing is what keeps AT1 focused.</a:t>
            </a:r>
          </a:p>
          <a:p>
            <a:r>
              <a:t>Misconception to pre-empt: that they must evaluate all four models exhaustively in AT1. No — name</a:t>
            </a:r>
          </a:p>
          <a:p>
            <a:r>
              <a:t>them to show literacy, but the genuine decision is on-prem vs public cloud.</a:t>
            </a:r>
          </a:p>
          <a:p>
            <a:r>
              <a:t>Question to pose: "Why would a small RTO like YAT choose PUBLIC cloud over building its own PRIVATE</a:t>
            </a:r>
          </a:p>
          <a:p>
            <a:r>
              <a:t>cloud?" (scale, cost, no data centre to run).</a:t>
            </a:r>
          </a:p>
          <a:p>
            <a:r>
              <a:t>UoC/AT1 tie: KE 11; and this binary framing IS the spine of AT1's §5 Options Considered.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a short written reasoning task, their first "consultant recommendation" in miniature.</a:t>
            </a:r>
          </a:p>
          <a:p>
            <a:r>
              <a:t>Tell students: "YAT is considering moving Ledgerline off its on-prem server. As the MTS consultant,</a:t>
            </a:r>
          </a:p>
          <a:p>
            <a:r>
              <a:t>pick the deployment model for a cloud version — and justify it for THIS client."</a:t>
            </a:r>
          </a:p>
          <a:p>
            <a:r>
              <a:t>Steps:</a:t>
            </a:r>
          </a:p>
          <a:p>
            <a:r>
              <a:t>1. Name the model (they should land on public cloud).</a:t>
            </a:r>
          </a:p>
          <a:p>
            <a:r>
              <a:t>2. Justify it in one short paragraph — WHO YAT is, what it already runs (Office 365 = comfortable</a:t>
            </a:r>
          </a:p>
          <a:p>
            <a:r>
              <a:t>with SaaS/public cloud), and how much it wants to manage.</a:t>
            </a:r>
          </a:p>
          <a:p>
            <a:r>
              <a:t>Must produce: one short written paragraph — a named model plus a client-specific justification (not</a:t>
            </a:r>
          </a:p>
          <a:p>
            <a:r>
              <a:t>a generic textbook reason).</a:t>
            </a:r>
          </a:p>
          <a:p>
            <a:r>
              <a:t>Timing: ~5 min then compare. Where they get stuck: they name "hybrid" because YAT is hybrid today —</a:t>
            </a:r>
          </a:p>
          <a:p>
            <a:r>
              <a:t>push them to answer for the Ledgerline SYSTEM specifically, which is moving TO public cloud.</a:t>
            </a:r>
          </a:p>
          <a:p>
            <a:r>
              <a:t>Share-back prompt: take two contrasting answers and ask the room which justification is more</a:t>
            </a:r>
          </a:p>
          <a:p>
            <a:r>
              <a:t>client-specific.</a:t>
            </a:r>
          </a:p>
          <a:p>
            <a:r>
              <a:t>No-leakage note: this is practice reasoning on Ledgerline; the same skill is assessed later on the</a:t>
            </a:r>
          </a:p>
          <a:p>
            <a:r>
              <a:t>LMS in AT1 — comparable, not identical.</a:t>
            </a:r>
          </a:p>
          <a:p>
            <a:r>
              <a:t>UoC/AT1 tie: rehearses AT1 Appendix 2 Q2 and §5 in contextual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— the IaaS/PaaS/SaaS spectrum. Use the spectrum diagram; this is one of the two</a:t>
            </a:r>
          </a:p>
          <a:p>
            <a:r>
              <a:t>highest-value concepts in the Topic.</a:t>
            </a:r>
          </a:p>
          <a:p>
            <a:r>
              <a:t>• Name the three (bolded): IaaS = infrastructure, PaaS = platform, SaaS = software as a service.</a:t>
            </a:r>
          </a:p>
          <a:p>
            <a:r>
              <a:t>• The key line (accent bold): moving IaaS → SaaS trades MORE control/more work for LESS control/less</a:t>
            </a:r>
          </a:p>
          <a:p>
            <a:r>
              <a:t>work. Everything else on this topic hangs off that one axis.</a:t>
            </a:r>
          </a:p>
          <a:p>
            <a:r>
              <a:t>• Don't classify real services yet — that's the next slide. Here, just install the spectrum and the</a:t>
            </a:r>
          </a:p>
          <a:p>
            <a:r>
              <a:t>trade-off direction.</a:t>
            </a:r>
          </a:p>
          <a:p>
            <a:r>
              <a:t>Misconception to pre-empt: that the models are ranked "SaaS is best / most advanced." They are NOT</a:t>
            </a:r>
          </a:p>
          <a:p>
            <a:r>
              <a:t>a quality ladder — they're a control-vs-effort trade-off; the right one depends on the client.</a:t>
            </a:r>
          </a:p>
          <a:p>
            <a:r>
              <a:t>Question to pose: "If you want maximum control over the operating system, which end do you sit at —</a:t>
            </a:r>
          </a:p>
          <a:p>
            <a:r>
              <a:t>and what do you give up for it?" (IaaS; you take on all the ops work).</a:t>
            </a:r>
          </a:p>
          <a:p>
            <a:r>
              <a:t>UoC/AT1 tie: KE 3; directly evidenced by AT1 Appendix 2 Q1.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workhorse slide of Section 2 — teach the "who manages what" split with concrete AWS examples so</a:t>
            </a:r>
          </a:p>
          <a:p>
            <a:r>
              <a:t>it stops being an acronym.</a:t>
            </a:r>
          </a:p>
          <a:p>
            <a:r>
              <a:t>• IaaS (EC2): YOU manage OS + app, provider does hardware → most control, most work. Use when you</a:t>
            </a:r>
          </a:p>
          <a:p>
            <a:r>
              <a:t>must preserve an existing stack (like a lift-and-shift of Ledgerline's app).</a:t>
            </a:r>
          </a:p>
          <a:p>
            <a:r>
              <a:t>• PaaS (RDS, ALB): provider runs the platform; you run app/data → far less ops. Use to offload work</a:t>
            </a:r>
          </a:p>
          <a:p>
            <a:r>
              <a:t>when cloud skills are thin (very relevant to a small RTO).</a:t>
            </a:r>
          </a:p>
          <a:p>
            <a:r>
              <a:t>• SaaS (Office 365): provider runs everything, you just use it → least control, least work.</a:t>
            </a:r>
          </a:p>
          <a:p>
            <a:r>
              <a:t>• The decision (accent bold): control vs operational burden — classify each part, then SAY WHY that</a:t>
            </a:r>
          </a:p>
          <a:p>
            <a:r>
              <a:t>level fits the client. The "why" is what earns AT1 marks, not the label.</a:t>
            </a:r>
          </a:p>
          <a:p>
            <a:r>
              <a:t>Misconception to pre-empt: students think a whole solution is "a SaaS" or "an IaaS." Real</a:t>
            </a:r>
          </a:p>
          <a:p>
            <a:r>
              <a:t>architectures MIX models — Ledgerline could be IaaS app + PaaS database + SaaS email at once.</a:t>
            </a:r>
          </a:p>
          <a:p>
            <a:r>
              <a:t>Question to pose: "In our Ledgerline sketch, which piece is IaaS and which is PaaS — and why did</a:t>
            </a:r>
          </a:p>
          <a:p>
            <a:r>
              <a:t>the designer choose PaaS for the database?" (RDS = offload patching/backups/DR).</a:t>
            </a:r>
          </a:p>
          <a:p>
            <a:r>
              <a:t>UoC/AT1 tie: KE 3 → AT1 Appendix 2 Q1 and §5 (articulating the cloud option).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practice; mirrors AT1 Appendix 2 Q1 in contextual form.</a:t>
            </a:r>
          </a:p>
          <a:p>
            <a:r>
              <a:t>Tell students: "For each of these four, name the service model — IaaS, PaaS or SaaS — and give me</a:t>
            </a:r>
          </a:p>
          <a:p>
            <a:r>
              <a:t>the one-line WHY. The label alone earns nothing; the reasoning does."</a:t>
            </a:r>
          </a:p>
          <a:p>
            <a:r>
              <a:t>The four (read/put up):</a:t>
            </a:r>
          </a:p>
          <a:p>
            <a:r>
              <a:t>1. Office 365 → SaaS (provider runs everything, you just use it).</a:t>
            </a:r>
          </a:p>
          <a:p>
            <a:r>
              <a:t>2. A VPS with an OS installed that you configure and run your software on → IaaS.</a:t>
            </a:r>
          </a:p>
          <a:p>
            <a:r>
              <a:t>3. A service that rents compute &amp; memory where you install your own OS and software → IaaS.</a:t>
            </a:r>
          </a:p>
          <a:p>
            <a:r>
              <a:t>4. A managed database the provider runs/patches/backs up, you just connect and store → PaaS.</a:t>
            </a:r>
          </a:p>
          <a:p>
            <a:r>
              <a:t>Must produce: four labelled answers, each with a one-line justification tied to "who manages what."</a:t>
            </a:r>
          </a:p>
          <a:p>
            <a:r>
              <a:t>Timing: ~8 min then compare. Where they get stuck: items 2 and 3 both being IaaS feels wrong to</a:t>
            </a:r>
          </a:p>
          <a:p>
            <a:r>
              <a:t>them (they hunt for variety) — reassure them the distinction is about who manages the OS, and both</a:t>
            </a:r>
          </a:p>
          <a:p>
            <a:r>
              <a:t>leave the OS to you.</a:t>
            </a:r>
          </a:p>
          <a:p>
            <a:r>
              <a:t>Share-back prompt: "Which one was hardest to place, and what tipped it?"</a:t>
            </a:r>
          </a:p>
          <a:p>
            <a:r>
              <a:t>No-leakage note: practice items here; AT1 asks the same skill on the assessed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anchor what AWS actually IS before drowning them in service names.</a:t>
            </a:r>
          </a:p>
          <a:p>
            <a:r>
              <a:t>• Walk the bullets: a secure cloud PLATFORM with a broad set of global products; on-demand access</a:t>
            </a:r>
          </a:p>
          <a:p>
            <a:r>
              <a:t>to compute, storage, network, database and more, plus the tools to manage them; pay only for</a:t>
            </a:r>
          </a:p>
          <a:p>
            <a:r>
              <a:t>what you use, for as long as you use it.</a:t>
            </a:r>
          </a:p>
          <a:p>
            <a:r>
              <a:t>• The accent-bold line is the mental model for the whole section: AWS services work together like</a:t>
            </a:r>
          </a:p>
          <a:p>
            <a:r>
              <a:t>BUILDING BLOCKS. Everything that follows (compute, storage, database, networking) is a box of</a:t>
            </a:r>
          </a:p>
          <a:p>
            <a:r>
              <a:t>blocks; the web-app pattern slide clicks them together.</a:t>
            </a:r>
          </a:p>
          <a:p>
            <a:r>
              <a:t>Misconception to pre-empt: "AWS = servers in the cloud." It's far broader — 200+ services across</a:t>
            </a:r>
          </a:p>
          <a:p>
            <a:r>
              <a:t>many categories; today they meet only the handful needed for a web app.</a:t>
            </a:r>
          </a:p>
          <a:p>
            <a:r>
              <a:t>Question to pose: "Why would AWS build small single-purpose services instead of one big product?"</a:t>
            </a:r>
          </a:p>
          <a:p>
            <a:r>
              <a:t>(compose only what you need; pay only for what you use).</a:t>
            </a:r>
          </a:p>
          <a:p>
            <a:r>
              <a:t>UoC/AT1 tie: KE 2 (industry-standard hardware/software products) → AT1 Appendix 2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Region as a real, consequential first decision — not trivia. It returns hard in AT2 (residency).</a:t>
            </a:r>
          </a:p>
          <a:p>
            <a:r>
              <a:t>• Walk the four drivers: data governance &amp; LEGAL requirements (where data is allowed to live),</a:t>
            </a:r>
          </a:p>
          <a:p>
            <a:r>
              <a:t>proximity to users (latency), service AVAILABILITY (not every service is in every Region), and</a:t>
            </a:r>
          </a:p>
          <a:p>
            <a:r>
              <a:t>cost (prices vary by Region).</a:t>
            </a:r>
          </a:p>
          <a:p>
            <a:r>
              <a:t>• Lead with governance/legal for this client: YAT holds financial records and PII — that's the</a:t>
            </a:r>
          </a:p>
          <a:p>
            <a:r>
              <a:t>driver that dominates, and it's why the AT2 design later mandates a Sydney Region.</a:t>
            </a:r>
          </a:p>
          <a:p>
            <a:r>
              <a:t>Misconception to pre-empt: "pick the closest Region for speed." Latency matters, but for YAT DATA</a:t>
            </a:r>
          </a:p>
          <a:p>
            <a:r>
              <a:t>RESIDENCY (legal) outranks it — closest isn't automatically correct.</a:t>
            </a:r>
          </a:p>
          <a:p>
            <a:r>
              <a:t>Question to pose: "YAT stores Australians' financial and personal data — which of these four drivers</a:t>
            </a:r>
          </a:p>
          <a:p>
            <a:r>
              <a:t>decides the Region, and why?" (governance/legal → onshore).</a:t>
            </a:r>
          </a:p>
          <a:p>
            <a:r>
              <a:t>UoC/AT1 tie: KE 2. Region choice-for-residency is developed here and BUILT in AT2 (Topic 6) — flag</a:t>
            </a:r>
          </a:p>
          <a:p>
            <a:r>
              <a:t>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AZs as the resilience building block — pair with the diagram; students routinely confuse AZ</a:t>
            </a:r>
          </a:p>
          <a:p>
            <a:r>
              <a:t>with Region.</a:t>
            </a:r>
          </a:p>
          <a:p>
            <a:r>
              <a:t>• Each Region has MULTIPLE Availability Zones. Each AZ is a fully isolated partition: discrete data</a:t>
            </a:r>
          </a:p>
          <a:p>
            <a:r>
              <a:t>centres designed for fault ISOLATION, interconnected by high-speed private networking.</a:t>
            </a:r>
          </a:p>
          <a:p>
            <a:r>
              <a:t>• The consequence (last bullet): YOU choose your AZs and replicate across them for resiliency — one</a:t>
            </a:r>
          </a:p>
          <a:p>
            <a:r>
              <a:t>AZ can fail without taking your app down. This is why the Ledgerline sketch has an Auto Scaling</a:t>
            </a:r>
          </a:p>
          <a:p>
            <a:r>
              <a:t>Group spanning AZs.</a:t>
            </a:r>
          </a:p>
          <a:p>
            <a:r>
              <a:t>Misconception to pre-empt: "an AZ is a single data centre" or "AZ = Region." An AZ is one or more</a:t>
            </a:r>
          </a:p>
          <a:p>
            <a:r>
              <a:t>discrete data centres; a Region CONTAINS several AZs. Draw the Region-as-box, AZs-inside picture.</a:t>
            </a:r>
          </a:p>
          <a:p>
            <a:r>
              <a:t>Question to pose: "If an accounting system must stay up when one data centre fails, what does that</a:t>
            </a:r>
          </a:p>
          <a:p>
            <a:r>
              <a:t>force you to do with AZs?" (spread across at least two).</a:t>
            </a:r>
          </a:p>
          <a:p>
            <a:r>
              <a:t>UoC/AT1 tie: KE 2; sets up the Region/AZ hierarchy the console activity has them verify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Diagram-only overview slide — use it as the section's map, not a slide to read out.</a:t>
            </a:r>
          </a:p>
          <a:p>
            <a:r>
              <a:t>• Point to the grid: AWS groups its 200+ services into CATEGORIES (compute, storage, database,</a:t>
            </a:r>
          </a:p>
          <a:p>
            <a:r>
              <a:t>networking, security, etc.). Tell them we'll walk the four categories a web app needs over the</a:t>
            </a:r>
          </a:p>
          <a:p>
            <a:r>
              <a:t>next slides — they don't need the whole grid.</a:t>
            </a:r>
          </a:p>
          <a:p>
            <a:r>
              <a:t>• Reassure: nobody memorises this; consultants recognise the category and know where to look.</a:t>
            </a:r>
          </a:p>
          <a:p>
            <a:r>
              <a:t>Misconception to pre-empt: that they must learn every service shown. No — literacy is knowing the</a:t>
            </a:r>
          </a:p>
          <a:p>
            <a:r>
              <a:t>CATEGORIES and the handful of core services in each; breadth over depth today.</a:t>
            </a:r>
          </a:p>
          <a:p>
            <a:r>
              <a:t>Question to pose: "For our Ledgerline web app, which categories will we definitely touch?" (compute,</a:t>
            </a:r>
          </a:p>
          <a:p>
            <a:r>
              <a:t>storage, database, networking — previews the next four slides).</a:t>
            </a:r>
          </a:p>
          <a:p>
            <a:r>
              <a:t>UoC/AT1 tie: KE 2 → AT1 Appendix 2 Q4 (naming industry-standard products by category).</a:t>
            </a:r>
          </a:p>
          <a:p>
            <a:r>
              <a:t>[Thin slide — image only; used as a navigational map for the section.]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of four service-category slides — keep the pace up; the goal is recognition, not depth.</a:t>
            </a:r>
          </a:p>
          <a:p>
            <a:r>
              <a:t>• Name the headline service and its role: Amazon EC2 = virtual servers (the core), EC2 Auto Scaling</a:t>
            </a:r>
          </a:p>
          <a:p>
            <a:r>
              <a:t>= add/remove instances with demand. Mention the container/serverless family exists — ECS, EKS,</a:t>
            </a:r>
          </a:p>
          <a:p>
            <a:r>
              <a:t>ECR, Fargate, Elastic Beanstalk, Lambda — without going deep.</a:t>
            </a:r>
          </a:p>
          <a:p>
            <a:r>
              <a:t>• Tie to the sketch: EC2 + Auto Scaling Group is the APP TIER of Ledgerline. That's the one they</a:t>
            </a:r>
          </a:p>
          <a:p>
            <a:r>
              <a:t>must be able to name and place.</a:t>
            </a:r>
          </a:p>
          <a:p>
            <a:r>
              <a:t>Misconception to pre-empt: that they need all of these. For the web-app pattern only EC2 + Auto</a:t>
            </a:r>
          </a:p>
          <a:p>
            <a:r>
              <a:t>Scaling matter; the rest are "recognise the name" only at this level.</a:t>
            </a:r>
          </a:p>
          <a:p>
            <a:r>
              <a:t>Question to pose: "Which compute service runs the Ledgerline application itself?" (EC2, scaled by an</a:t>
            </a:r>
          </a:p>
          <a:p>
            <a:r>
              <a:t>Auto Scaling Group).</a:t>
            </a:r>
          </a:p>
          <a:p>
            <a:r>
              <a:t>UoC/AT1 tie: KE 2 → AT1 Appendix 2 Q4; EC2 is IaaS, tying back to Section 2's spectrum.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service-category slide — differentiate the storage TYPES, which is the examinable point.</a:t>
            </a:r>
          </a:p>
          <a:p>
            <a:r>
              <a:t>• EBS = block storage attached to EC2 (like a disk on the server). EFS = a managed shared file</a:t>
            </a:r>
          </a:p>
          <a:p>
            <a:r>
              <a:t>system. S3 = OBJECT storage (files/blobs by key — where Ledgerline's scanned invoices and POs</a:t>
            </a:r>
          </a:p>
          <a:p>
            <a:r>
              <a:t>live). S3 Glacier = cheap archive / long-term backup.</a:t>
            </a:r>
          </a:p>
          <a:p>
            <a:r>
              <a:t>• For the sketch, the two that matter: EBS (disks on the EC2 servers) and S3 (scanned documents).</a:t>
            </a:r>
          </a:p>
          <a:p>
            <a:r>
              <a:t>Misconception to pre-empt: "S3 is a hard drive / a file system." It isn't — S3 is object storage</a:t>
            </a:r>
          </a:p>
          <a:p>
            <a:r>
              <a:t>(no OS mounts it like a drive); EBS is the block "disk" for a server. This block-vs-object</a:t>
            </a:r>
          </a:p>
          <a:p>
            <a:r>
              <a:t>distinction is the whole slide.</a:t>
            </a:r>
          </a:p>
          <a:p>
            <a:r>
              <a:t>Question to pose: "Where should YAT keep scanned invoices — EBS or S3, and why?" (S3 — cheap,</a:t>
            </a:r>
          </a:p>
          <a:p>
            <a:r>
              <a:t>durable object storage for documents; EBS is for the server's OS/app disk).</a:t>
            </a:r>
          </a:p>
          <a:p>
            <a:r>
              <a:t>UoC/AT1 tie: KE 2 → AT1 Appendix 2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service-category slide — anchor on RDS since that's Ledgerline's database tier.</a:t>
            </a:r>
          </a:p>
          <a:p>
            <a:r>
              <a:t>• RDS = managed RELATIONAL database (in the sketch, SQL Server) — provider patches/backs up/handles</a:t>
            </a:r>
          </a:p>
          <a:p>
            <a:r>
              <a:t>DR. Aurora = AWS's MySQL/PostgreSQL-compatible engine. DynamoDB = key-value/document (NoSQL).</a:t>
            </a:r>
          </a:p>
          <a:p>
            <a:r>
              <a:t>Redshift = analytics/data warehouse.</a:t>
            </a:r>
          </a:p>
          <a:p>
            <a:r>
              <a:t>• Tie to the sketch: RDS for SQL Server is Ledgerline's database — and it's PaaS (callback to</a:t>
            </a:r>
          </a:p>
          <a:p>
            <a:r>
              <a:t>Section 2: the provider runs the engine, YAT just stores data).</a:t>
            </a:r>
          </a:p>
          <a:p>
            <a:r>
              <a:t>Misconception to pre-empt: "a database is a database." No — relational (RDS/Aurora) vs NoSQL</a:t>
            </a:r>
          </a:p>
          <a:p>
            <a:r>
              <a:t>(DynamoDB) vs warehouse (Redshift) serve different jobs; picking wrong is a design error.</a:t>
            </a:r>
          </a:p>
          <a:p>
            <a:r>
              <a:t>Question to pose: "Ledgerline is an accounting system with structured, related records — which</a:t>
            </a:r>
          </a:p>
          <a:p>
            <a:r>
              <a:t>database service fits, and is it IaaS or PaaS?" (RDS; PaaS).</a:t>
            </a:r>
          </a:p>
          <a:p>
            <a:r>
              <a:t>UoC/AT1 tie: KE 2 → AT1 Appendix 2 Q4; reinforces the service-model classification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Fourth service-category slide — the plumbing that ties the tiers together. Keep VPC and ELB central;</a:t>
            </a:r>
          </a:p>
          <a:p>
            <a:r>
              <a:t>the rest is recognition.</a:t>
            </a:r>
          </a:p>
          <a:p>
            <a:r>
              <a:t>• VPC = your isolated virtual network (the private space everything lives in). Elastic Load Balancing</a:t>
            </a:r>
          </a:p>
          <a:p>
            <a:r>
              <a:t>= spreads traffic across servers (the ALB in the sketch). Route 53 = DNS. CloudFront = content</a:t>
            </a:r>
          </a:p>
          <a:p>
            <a:r>
              <a:t>delivery/caching. Direct Connect / Transit Gateway / VPN = enterprise connectivity — name-only.</a:t>
            </a:r>
          </a:p>
          <a:p>
            <a:r>
              <a:t>• For the sketch: VPC (the network) and the ALB (load balancer) are the two that matter.</a:t>
            </a:r>
          </a:p>
          <a:p>
            <a:r>
              <a:t>Misconception to pre-empt: "the load balancer is a server that does the work." No — it DISTRIBUTES</a:t>
            </a:r>
          </a:p>
          <a:p>
            <a:r>
              <a:t>incoming requests across the EC2 servers; it doesn't run the app itself.</a:t>
            </a:r>
          </a:p>
          <a:p>
            <a:r>
              <a:t>Question to pose: "In the Ledgerline sketch, what sits between the internet and the EC2 servers, and</a:t>
            </a:r>
          </a:p>
          <a:p>
            <a:r>
              <a:t>what job does it do?" (the ALB — spreads traffic; enables scaling and resilience).</a:t>
            </a:r>
          </a:p>
          <a:p>
            <a:r>
              <a:t>UoC/AT1 tie: KE 2 → AT1 Appendix 2 Q4; VPC/subnets return hands-on in the console activity and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payoff slide of Section 3 — this is where the Ledgerline sketch from the start of class snaps</a:t>
            </a:r>
          </a:p>
          <a:p>
            <a:r>
              <a:t>together. Slow down and assemble it live.</a:t>
            </a:r>
          </a:p>
          <a:p>
            <a:r>
              <a:t>• Read the flow (accent-bold): Internet → ALB → EC2/Auto Scaling Group → RDS (+ S3, CloudWatch).</a:t>
            </a:r>
          </a:p>
          <a:p>
            <a:r>
              <a:t>Then attach each service to its role AND its service model:</a:t>
            </a:r>
          </a:p>
          <a:p>
            <a:r>
              <a:t>- ALB spreads traffic across servers · PaaS</a:t>
            </a:r>
          </a:p>
          <a:p>
            <a:r>
              <a:t>- EC2 + Auto Scaling Group = app tier, runs the app and scales with demand · IaaS</a:t>
            </a:r>
          </a:p>
          <a:p>
            <a:r>
              <a:t>- RDS = managed database (SQL Server) · PaaS</a:t>
            </a:r>
          </a:p>
          <a:p>
            <a:r>
              <a:t>- S3 = object storage for scanned invoices/POs; EBS = the disks on the EC2 servers</a:t>
            </a:r>
          </a:p>
          <a:p>
            <a:r>
              <a:t>- CloudWatch = monitors all of it.</a:t>
            </a:r>
          </a:p>
          <a:p>
            <a:r>
              <a:t>• Callback hard: "the Ledgerline sketch wasn't random" — this is the standard multi-tier web-app</a:t>
            </a:r>
          </a:p>
          <a:p>
            <a:r>
              <a:t>pattern; recognising it is a core consultant skill.</a:t>
            </a:r>
          </a:p>
          <a:p>
            <a:r>
              <a:t>Misconception to pre-empt: that this is the only correct architecture. It's the COMMON pattern, not</a:t>
            </a:r>
          </a:p>
          <a:p>
            <a:r>
              <a:t>a law — but it's the one they should recognise and reason about.</a:t>
            </a:r>
          </a:p>
          <a:p>
            <a:r>
              <a:t>Question to pose: "Point at each box and tell me: IaaS or PaaS — and why did the designer pick that?"</a:t>
            </a:r>
          </a:p>
          <a:p>
            <a:r>
              <a:t>UoC/AT1 tie: KE 2 + KE 3 together; this integrated picture underpins AT1's §5 options and the</a:t>
            </a:r>
          </a:p>
          <a:p>
            <a:r>
              <a:t>services that get priced in §6.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Set-up/framing slide for the educator-led console walk-through — brief, then move to the live tour.</a:t>
            </a:r>
          </a:p>
          <a:p>
            <a:r>
              <a:t>• Explain the format: you'll all log in to the AWS Management Console together; as you navigate,</a:t>
            </a:r>
          </a:p>
          <a:p>
            <a:r>
              <a:t>they answer five questions; you discuss and reveal each answer. This is guided literacy — no</a:t>
            </a:r>
          </a:p>
          <a:p>
            <a:r>
              <a:t>building, just seeing the console is real and navigable.</a:t>
            </a:r>
          </a:p>
          <a:p>
            <a:r>
              <a:t>• Manage expectations: they'll get lost in the console at first; that's fine — the goal is to see</a:t>
            </a:r>
          </a:p>
          <a:p>
            <a:r>
              <a:t>how services are organised and where Region/AZ live, not to master it.</a:t>
            </a:r>
          </a:p>
          <a:p>
            <a:r>
              <a:t>Misconception to pre-empt: "we're building today." No — this is a look-and-find tour; building is</a:t>
            </a:r>
          </a:p>
          <a:p>
            <a:r>
              <a:t>AT2. Keep them from launching resources.</a:t>
            </a:r>
          </a:p>
          <a:p>
            <a:r>
              <a:t>Question to pose (warm-up): "When you open the console, how do you think 200+ services are organised</a:t>
            </a:r>
          </a:p>
          <a:p>
            <a:r>
              <a:t>so you can find anything?" (by category — which they'll confirm live).</a:t>
            </a:r>
          </a:p>
          <a:p>
            <a:r>
              <a:t>UoC/AT1 tie: makes KE 2 concrete — recognising real industry-standard products in the actual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run this as the live, educator-led tour with the five questions. You drive; they</a:t>
            </a:r>
          </a:p>
          <a:p>
            <a:r>
              <a:t>follow and answer. Pause on each Q, take answers, then reveal (answer key is the next slide).</a:t>
            </a:r>
          </a:p>
          <a:p>
            <a:r>
              <a:t>Sequence to demonstrate:</a:t>
            </a:r>
          </a:p>
          <a:p>
            <a:r>
              <a:t>1. Launch the AWS Academy Learner Lab, connect to the Console.</a:t>
            </a:r>
          </a:p>
          <a:p>
            <a:r>
              <a:t>2. Open the Services menu — show services grouped by category (EC2 → Compute).</a:t>
            </a:r>
          </a:p>
          <a:p>
            <a:r>
              <a:t>Q1: which category is IAM under?  Q2: which category is Amazon VPC under?</a:t>
            </a:r>
          </a:p>
          <a:p>
            <a:r>
              <a:t>3. Open VPC; switch the Region menu (e.g. to EU (London)); open Subnets, select one.</a:t>
            </a:r>
          </a:p>
          <a:p>
            <a:r>
              <a:t>Q3: does a subnet exist at Region or AZ level?  Q4: does a VPC exist at Region or AZ level?</a:t>
            </a:r>
          </a:p>
          <a:p>
            <a:r>
              <a:t>Q5: which of EC2, IAM, Lambda, Route 53 are global, not Regional?</a:t>
            </a:r>
          </a:p>
          <a:p>
            <a:r>
              <a:t>Timing: ~15 min. Where they get stuck: Learner Lab login/console handoff (have the lab-launch steps</a:t>
            </a:r>
          </a:p>
          <a:p>
            <a:r>
              <a:t>ready), and the Region switch confusing them — go slowly and have everyone switch together.</a:t>
            </a:r>
          </a:p>
          <a:p>
            <a:r>
              <a:t>Share-back: take a show of hands on each Q before revealing; the disagreements are the teaching</a:t>
            </a:r>
          </a:p>
          <a:p>
            <a:r>
              <a:t>moment (esp. Q3/Q4 Region-vs-AZ and Q5 global-vs-Regional).</a:t>
            </a:r>
          </a:p>
          <a:p>
            <a:r>
              <a:t>Note: Learner Lab deploys to us-east-1 — [scenario region | deploy: us-east-1]; if you switch</a:t>
            </a:r>
          </a:p>
          <a:p>
            <a:r>
              <a:t>Regions to demo, switch back before anyone builds.</a:t>
            </a:r>
          </a:p>
          <a:p>
            <a:r>
              <a:t>UoC/AT1 tie: KE 2; cements the Region/AZ hierarchy from the AZ slide by having them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+ consolidate — don't just read answers; explain WHY each is what it is, because the</a:t>
            </a:r>
          </a:p>
          <a:p>
            <a:r>
              <a:t>Region-vs-global distinction is the sticky one.</a:t>
            </a:r>
          </a:p>
          <a:p>
            <a:r>
              <a:t>• Q1 — IAM → Security, Identity &amp; Compliance.</a:t>
            </a:r>
          </a:p>
          <a:p>
            <a:r>
              <a:t>• Q2 — Amazon VPC → Networking &amp; Content Delivery.</a:t>
            </a:r>
          </a:p>
          <a:p>
            <a:r>
              <a:t>• Q3 — subnets exist at the AVAILABILITY-ZONE level (a subnet lives in one AZ).</a:t>
            </a:r>
          </a:p>
          <a:p>
            <a:r>
              <a:t>• Q4 — VPCs exist at the REGION level (a VPC spans the AZs in its Region).</a:t>
            </a:r>
          </a:p>
          <a:p>
            <a:r>
              <a:t>• Q5 (accent-bold) — IAM and Route 53 are GLOBAL; EC2 and Lambda are REGIONAL.</a:t>
            </a:r>
          </a:p>
          <a:p>
            <a:r>
              <a:t>Draw the hierarchy on the board: global services sit above Regions; a VPC is Region-scoped; subnets</a:t>
            </a:r>
          </a:p>
          <a:p>
            <a:r>
              <a:t>sit inside AZs inside the Region.</a:t>
            </a:r>
          </a:p>
          <a:p>
            <a:r>
              <a:t>Misconception to pre-empt: "everything belongs to a Region." Some services (IAM, Route 53) are</a:t>
            </a:r>
          </a:p>
          <a:p>
            <a:r>
              <a:t>global — get this wrong in AT2 and screenshots won't match the expected scope.</a:t>
            </a:r>
          </a:p>
          <a:p>
            <a:r>
              <a:t>Question to pose: "Why does it make sense that IAM is global but EC2 is Regional?" (identity applies</a:t>
            </a:r>
          </a:p>
          <a:p>
            <a:r>
              <a:t>account-wide; servers physically live in a Region).</a:t>
            </a:r>
          </a:p>
          <a:p>
            <a:r>
              <a:t>UoC/AT1 tie: KE 2; this Region/AZ/global model is assumed knowledge when they build in AT2.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4 — the one standard worth teaching in a little depth, because its Reliability pillar</a:t>
            </a:r>
          </a:p>
          <a:p>
            <a:r>
              <a:t>returns in the design work. Use the pillars image.</a:t>
            </a:r>
          </a:p>
          <a:p>
            <a:r>
              <a:t>• What it is: a GUIDE for designing infrastructure that is secure, high-performing, resilient and</a:t>
            </a:r>
          </a:p>
          <a:p>
            <a:r>
              <a:t>efficient — a consistent way to EVALUATE and IMPROVE cloud architectures, built from AWS reviewing</a:t>
            </a:r>
          </a:p>
          <a:p>
            <a:r>
              <a:t>thousands of real customer architectures.</a:t>
            </a:r>
          </a:p>
          <a:p>
            <a:r>
              <a:t>• Frame it as the "how do I know my design is any good?" standard — the yardstick, not a product.</a:t>
            </a:r>
          </a:p>
          <a:p>
            <a:r>
              <a:t>Misconception to pre-empt: that Well-Architected is a tool you install or a certification. It's a</a:t>
            </a:r>
          </a:p>
          <a:p>
            <a:r>
              <a:t>framework/checklist of design principles you assess a design against.</a:t>
            </a:r>
          </a:p>
          <a:p>
            <a:r>
              <a:t>Question to pose: "If you had to argue YAT's proposed cloud design is 'well designed', what would you</a:t>
            </a:r>
          </a:p>
          <a:p>
            <a:r>
              <a:t>measure it against?" (the pillars — security, reliability, performance, cost, etc.).</a:t>
            </a:r>
          </a:p>
          <a:p>
            <a:r>
              <a:t>UoC/AT1 tie: KE 1 (industry technology standards) → AT1 Appendix 2 Q3; its Reliability pillar comes</a:t>
            </a:r>
          </a:p>
          <a:p>
            <a:r>
              <a:t>back when they design for real in AT2, so flag the through-line.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4 practice; matching standards to decisions (AT1 Appendix 2 Q3 in</a:t>
            </a:r>
          </a:p>
          <a:p>
            <a:r>
              <a:t>contextual form).</a:t>
            </a:r>
          </a:p>
          <a:p>
            <a:r>
              <a:t>Tell students: "You don't implement these standards yet — you name the RIGHT one for a given</a:t>
            </a:r>
          </a:p>
          <a:p>
            <a:r>
              <a:t>decision and say why in one line. That's the consultant skill: knowing which rulebook to reach for."</a:t>
            </a:r>
          </a:p>
          <a:p>
            <a:r>
              <a:t>The five decisions (put up):</a:t>
            </a:r>
          </a:p>
          <a:p>
            <a:r>
              <a:t>1. Deciding whether each part is IaaS/PaaS/SaaS → NIST SP 800-145.</a:t>
            </a:r>
          </a:p>
          <a:p>
            <a:r>
              <a:t>2. Choosing cloud security controls → ISO/IEC 27017.</a:t>
            </a:r>
          </a:p>
          <a:p>
            <a:r>
              <a:t>3. Meeting an Australian baseline of cyber mitigations → ACSC Essential Eight.</a:t>
            </a:r>
          </a:p>
          <a:p>
            <a:r>
              <a:t>4. Judging whether an architecture is well-designed and reliable → AWS Well-Architected.</a:t>
            </a:r>
          </a:p>
          <a:p>
            <a:r>
              <a:t>5. Planning change-management around a migration → ITIL 4.</a:t>
            </a:r>
          </a:p>
          <a:p>
            <a:r>
              <a:t>Must produce: five matched standard→decision pairs, each with a one-line why.</a:t>
            </a:r>
          </a:p>
          <a:p>
            <a:r>
              <a:t>Timing: ~8 min then compare. Where they get stuck: conflating ISO 27017 (cloud security controls)</a:t>
            </a:r>
          </a:p>
          <a:p>
            <a:r>
              <a:t>with Essential Eight (AU baseline mitigations) — clarify 27017 is the international control set,</a:t>
            </a:r>
          </a:p>
          <a:p>
            <a:r>
              <a:t>Essential Eight is the Australian government baseline.</a:t>
            </a:r>
          </a:p>
          <a:p>
            <a:r>
              <a:t>Share-back: read a decision, take the standard from the room, confirm the reasoning.</a:t>
            </a:r>
          </a:p>
          <a:p>
            <a:r>
              <a:t>No-leakage note: practice mapping here; AT1 tests the same recognition on the assessed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5 — the three fundamental cost drivers. This section arms AT1's cost-benefit analysis,</a:t>
            </a:r>
          </a:p>
          <a:p>
            <a:r>
              <a:t>so keep it concrete and money-focused.</a:t>
            </a:r>
          </a:p>
          <a:p>
            <a:r>
              <a:t>• Three drivers (all bolded): COMPUTE — charged per hour/second, varies by instance type; STORAGE —</a:t>
            </a:r>
          </a:p>
          <a:p>
            <a:r>
              <a:t>typically per GB; DATA TRANSFER — outbound is aggregated and charged, inbound is mostly free.</a:t>
            </a:r>
          </a:p>
          <a:p>
            <a:r>
              <a:t>• Hammer the data-transfer asymmetry: getting data IN is usually free, getting it OUT costs — a</a:t>
            </a:r>
          </a:p>
          <a:p>
            <a:r>
              <a:t>classic surprise on cloud bills.</a:t>
            </a:r>
          </a:p>
          <a:p>
            <a:r>
              <a:t>Misconception to pre-empt: "cloud is billed as one flat monthly fee." No — it's the sum of many</a:t>
            </a:r>
          </a:p>
          <a:p>
            <a:r>
              <a:t>metered drivers; you must model each. And "data transfer is free" — only inbound.</a:t>
            </a:r>
          </a:p>
          <a:p>
            <a:r>
              <a:t>Question to pose: "For Ledgerline, which of these three drivers is likely the biggest, and which</a:t>
            </a:r>
          </a:p>
          <a:p>
            <a:r>
              <a:t>could surprise YAT on the bill?" (compute for an always-on app; egress data transfer as the</a:t>
            </a:r>
          </a:p>
          <a:p>
            <a:r>
              <a:t>surprise).</a:t>
            </a:r>
          </a:p>
          <a:p>
            <a:r>
              <a:t>UoC/AT1 tie: KE 4 / KE 3 (cost models &amp; scalability) → AT1 Appendix 2 Q5 and §6 cost-benefit.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three-part AWS pricing PHILOSOPHY — the logic behind every discount they'll meet next.</a:t>
            </a:r>
          </a:p>
          <a:p>
            <a:r>
              <a:t>Use the pricing-philosophy image.</a:t>
            </a:r>
          </a:p>
          <a:p>
            <a:r>
              <a:t>• Pay for what you use (the pay-as-you-go default). Pay LESS when you RESERVE (commit ahead → the</a:t>
            </a:r>
          </a:p>
          <a:p>
            <a:r>
              <a:t>next slide, RIs). Pay LESS when you use MORE, and as AWS grows (volume discounts + AWS passing on</a:t>
            </a:r>
          </a:p>
          <a:p>
            <a:r>
              <a:t>its own economies of scale).</a:t>
            </a:r>
          </a:p>
          <a:p>
            <a:r>
              <a:t>• Frame it as: AWS rewards predictability (commit) and scale — the opposite of paying full retail</a:t>
            </a:r>
          </a:p>
          <a:p>
            <a:r>
              <a:t>for everything on demand.</a:t>
            </a:r>
          </a:p>
          <a:p>
            <a:r>
              <a:t>Misconception to pre-empt: "pay-as-you-go is always cheapest." Not for a steady always-on workload —</a:t>
            </a:r>
          </a:p>
          <a:p>
            <a:r>
              <a:t>reserving is cheaper there (the whole point of the next slide). On-demand's value is flexibility,</a:t>
            </a:r>
          </a:p>
          <a:p>
            <a:r>
              <a:t>not lowest price.</a:t>
            </a:r>
          </a:p>
          <a:p>
            <a:r>
              <a:t>Question to pose: "Ledgerline runs every business day, all year — does pay-as-you-go or reserving</a:t>
            </a:r>
          </a:p>
          <a:p>
            <a:r>
              <a:t>suit it better, and why?" (reserved — predictable baseline).</a:t>
            </a:r>
          </a:p>
          <a:p>
            <a:r>
              <a:t>UoC/AT1 tie: KE 4 → AT1 Appendix 2 Q5; underpins justifying the pricing choice in the cost-benefit.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Reserved Instances concretely — this is the highest-leverage cost lever for YAT's steady</a:t>
            </a:r>
          </a:p>
          <a:p>
            <a:r>
              <a:t>workload. Use the RI-options image.</a:t>
            </a:r>
          </a:p>
          <a:p>
            <a:r>
              <a:t>• The headline: commit to Reserved Instances and save up to ~75% versus on-demand — a big number,</a:t>
            </a:r>
          </a:p>
          <a:p>
            <a:r>
              <a:t>make sure it lands.</a:t>
            </a:r>
          </a:p>
          <a:p>
            <a:r>
              <a:t>• The trade (more upfront = bigger discount): All Upfront (AURI) = largest discount; Partial Upfront</a:t>
            </a:r>
          </a:p>
          <a:p>
            <a:r>
              <a:t>(PURI) = middle; No Upfront (NURI) = smallest. It's a cash-flow-vs-savings choice.</a:t>
            </a:r>
          </a:p>
          <a:p>
            <a:r>
              <a:t>Misconception to pre-empt: "reserved = a physically different, better server." No — same instance;</a:t>
            </a:r>
          </a:p>
          <a:p>
            <a:r>
              <a:t>you're pre-COMMITTING to pay for it, so AWS discounts it. Also, RIs suit steady baselines, NOT</a:t>
            </a:r>
          </a:p>
          <a:p>
            <a:r>
              <a:t>variable/peaky workloads (that's on-demand).</a:t>
            </a:r>
          </a:p>
          <a:p>
            <a:r>
              <a:t>Question to pose: "YAT could pay more upfront for a bigger discount, or nothing upfront for less —</a:t>
            </a:r>
          </a:p>
          <a:p>
            <a:r>
              <a:t>what would you advise a small RTO watching cash flow?" (weigh discount vs cash flow — a real</a:t>
            </a:r>
          </a:p>
          <a:p>
            <a:r>
              <a:t>consulting judgement).</a:t>
            </a:r>
          </a:p>
          <a:p>
            <a:r>
              <a:t>UoC/AT1 tie: KE 4 → AT1 Appendix 2 Q5; the RI-discount rationale is explicitly examinable.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tool that turns cost knowledge into a real AT1 number. Use the calculator image.</a:t>
            </a:r>
          </a:p>
          <a:p>
            <a:r>
              <a:t>• What it does: estimate monthly costs and find ways to reduce them; MODEL solutions before building</a:t>
            </a:r>
          </a:p>
          <a:p>
            <a:r>
              <a:t>them and explore the calculations behind an estimate; find instance types &amp; contract terms; group</a:t>
            </a:r>
          </a:p>
          <a:p>
            <a:r>
              <a:t>services to organise an estimate.</a:t>
            </a:r>
          </a:p>
          <a:p>
            <a:r>
              <a:t>• Frame it as the consultant's estimating instrument — this is literally how they'll produce the</a:t>
            </a:r>
          </a:p>
          <a:p>
            <a:r>
              <a:t>AWS pricing figures in AT1's cost-benefit appendix.</a:t>
            </a:r>
          </a:p>
          <a:p>
            <a:r>
              <a:t>Misconception to pre-empt: "the calculator's number is the exact bill." It's an ESTIMATE based on</a:t>
            </a:r>
          </a:p>
          <a:p>
            <a:r>
              <a:t>your assumptions (usage, hours, region) — change the assumptions and the number changes; document</a:t>
            </a:r>
          </a:p>
          <a:p>
            <a:r>
              <a:t>your assumptions.</a:t>
            </a:r>
          </a:p>
          <a:p>
            <a:r>
              <a:t>Question to pose: "Before you can price Ledgerline in the calculator, what do you need to know about</a:t>
            </a:r>
          </a:p>
          <a:p>
            <a:r>
              <a:t>how it runs?" (which services, instance size, hours, storage, data transfer).</a:t>
            </a:r>
          </a:p>
          <a:p>
            <a:r>
              <a:t>UoC/AT1 tie: KE 4 → directly enables AT1 §6 + Appendix 1 (Cost-Benefit Analysis) — the tool they'll</a:t>
            </a:r>
          </a:p>
          <a:p>
            <a:r>
              <a:t>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but practical — teach students to READ a calculator estimate, because they'll paste one into</a:t>
            </a:r>
          </a:p>
          <a:p>
            <a:r>
              <a:t>AT1 and must interpret it.</a:t>
            </a:r>
          </a:p>
          <a:p>
            <a:r>
              <a:t>• An estimate breaks into three figures: FIRST 12 MONTHS total, TOTAL UPFRONT, and TOTAL MONTHLY.</a:t>
            </a:r>
          </a:p>
          <a:p>
            <a:r>
              <a:t>Explain what each answers: monthly = ongoing run rate; upfront = any reserved commitment paid now;</a:t>
            </a:r>
          </a:p>
          <a:p>
            <a:r>
              <a:t>12-month = the headline annual figure that combines them.</a:t>
            </a:r>
          </a:p>
          <a:p>
            <a:r>
              <a:t>• Tie back: if they chose Reserved Instances (last slides), the upfront figure is where that shows up.</a:t>
            </a:r>
          </a:p>
          <a:p>
            <a:r>
              <a:t>Misconception to pre-empt: "the monthly figure is the whole cost." No — upfront commitments sit</a:t>
            </a:r>
          </a:p>
          <a:p>
            <a:r>
              <a:t>outside the monthly run rate; the 12-month total is what reconciles them. Reading only one figure</a:t>
            </a:r>
          </a:p>
          <a:p>
            <a:r>
              <a:t>misleads the business case.</a:t>
            </a:r>
          </a:p>
          <a:p>
            <a:r>
              <a:t>Question to pose: "If YAT's board asks 'what will this cost us?', which of the three figures do you</a:t>
            </a:r>
          </a:p>
          <a:p>
            <a:r>
              <a:t>lead with, and which do you NOT hide?" (lead with 12-month/annual; don't hide upfront).</a:t>
            </a:r>
          </a:p>
          <a:p>
            <a:r>
              <a:t>UoC/AT1 tie: KE 4 → AT1 cost-benefit — interpreting the estimate correctly is what makes the §6</a:t>
            </a:r>
          </a:p>
          <a:p>
            <a:r>
              <a:t>argument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cost section by widening it from cost to VALUE — AT1's business case argues benefits, not</a:t>
            </a:r>
          </a:p>
          <a:p>
            <a:r>
              <a:t>just a cheaper bill.</a:t>
            </a:r>
          </a:p>
          <a:p>
            <a:r>
              <a:t>• Hard benefits (quantifiable): lower spend on compute/storage/networking/security; fewer</a:t>
            </a:r>
          </a:p>
          <a:p>
            <a:r>
              <a:t>hardware/software purchases (less capex); lower ops, backup and DR costs.</a:t>
            </a:r>
          </a:p>
          <a:p>
            <a:r>
              <a:t>• Soft benefits (harder to price but real): reuse of services; higher developer productivity;</a:t>
            </a:r>
          </a:p>
          <a:p>
            <a:r>
              <a:t>improved customer satisfaction; agility; greater reach.</a:t>
            </a:r>
          </a:p>
          <a:p>
            <a:r>
              <a:t>• The teaching point: a strong business case pairs the hard numbers with the soft benefits — cost</a:t>
            </a:r>
          </a:p>
          <a:p>
            <a:r>
              <a:t>alone rarely wins the argument.</a:t>
            </a:r>
          </a:p>
          <a:p>
            <a:r>
              <a:t>Misconception to pre-empt: "the business case is just 'cloud is cheaper'." Often it ISN'T strictly</a:t>
            </a:r>
          </a:p>
          <a:p>
            <a:r>
              <a:t>cheaper — the case is built on agility, capex avoidance and capability, not price alone. Guard</a:t>
            </a:r>
          </a:p>
          <a:p>
            <a:r>
              <a:t>against a purely-cost argument in AT1.</a:t>
            </a:r>
          </a:p>
          <a:p>
            <a:r>
              <a:t>Question to pose: "Which soft benefit would matter most to YAT specifically, and how would you</a:t>
            </a:r>
          </a:p>
          <a:p>
            <a:r>
              <a:t>evidence something you can't put a dollar on?"</a:t>
            </a:r>
          </a:p>
          <a:p>
            <a:r>
              <a:t>UoC/AT1 tie: KE 4 → AT1 §6 cost-benefit AND §2 strategic alignment — the benefits case, not just</a:t>
            </a:r>
          </a:p>
          <a:p>
            <a:r>
              <a:t>the price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01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Intro to Cloud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Speak ‘cloud’ well enough to write a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Cloud fundamentals &amp;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literacy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consultant's starting 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Goal: speak “cloud” well enough to write a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Where this fits: you're an MTS cloud consultant — before advising “renew on-prem vs move to cloud,” you need to speak cloud fluently.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What you'll be able to do: name the building blocks, classify service &amp; deployment models, point to the right standards, and reason about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Where the edges are: recognise, explain, classify — not build. Building comes in a later engagement.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How you'll practise: on a real YAT system — the Accounting System (Ledgerline).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Our scenario: the Accounting System (Ledgerline)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engagement on your desk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YAT runs Ledgerline — its accounting and office-admin system. Your engagement: look at moving it to the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cloud version would take a familiar shape: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Internet → ALB → EC2 / Auto Scaling Group  (Ledgerline app, Windows Server)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→ RDS for SQL Server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(+ S3 for scanned invoices/POs · CloudWatch monitoring)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Don't worry about the names yet — you'll learn each piece this Topic.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exercise from here uses this system, so the picture builds as you 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Get to know your client — YAT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Open the YAT website &amp; intranet and look around — this is where your client's information lives all term.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Find answers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kind of organisation is YAT — what does it do, and roughly how big is it?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does YAT already use in the cloud today?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is Ledgerline used for, and who relies on it?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Where does Ledgerline run today, and on what kind of infrastructure?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What does the business expect of it — e.g. when must it be available?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~10 min, then we'll share what we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is cloud computing?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en-7cdc0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783080"/>
            <a:ext cx="41148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computing defined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Cloud computing is the on-demand delivery of compute power, database, storage, applications and other IT resources via the internet, with pay-as-you-go pricing.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Those resources run on servers in large data centres around the world.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provision what you need, when you need it, and pay only for what you use.</a:t>
            </a:r>
          </a:p>
        </p:txBody>
      </p:sp>
      <p:pic>
        <p:nvPicPr>
          <p:cNvPr id="5" name="Picture 4" descr="gen-5637d7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Infrastructure as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Cloud computing lets you stop thinking of infrastructure as hardware — and instead think of (and use) it as software.</a:t>
            </a:r>
          </a:p>
        </p:txBody>
      </p:sp>
      <p:pic>
        <p:nvPicPr>
          <p:cNvPr id="5" name="Picture 4" descr="gen-fc3c90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Traditional computing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infrastructure as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Hardware solutions: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require space, staff, physical security, planning, capital expenditure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have a long hardware procurement cycle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make you provision capacity by guessing the theoretical maximum peak</a:t>
            </a:r>
          </a:p>
        </p:txBody>
      </p:sp>
      <p:pic>
        <p:nvPicPr>
          <p:cNvPr id="5" name="Picture 4" descr="traditional-computing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84120"/>
            <a:ext cx="5120640" cy="2621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computing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infrastructure as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Software solutions: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are flexible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change more quickly, easily and cost-effectively than hardware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eliminate the undifferentiated heavy lifting</a:t>
            </a:r>
          </a:p>
        </p:txBody>
      </p:sp>
      <p:pic>
        <p:nvPicPr>
          <p:cNvPr id="5" name="Picture 4" descr="cloud-computing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2064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computing deployment models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where an application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ployment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970042"/>
            <a:ext cx="7223759" cy="37408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Deployment models — YAT's 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YAT today is hybrid: on-prem servers in the comms room + Office 365 (SaaS) already in the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engagement on your desk is a straight one: move an on-prem system into the public cloud.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public cloud is the model that matters here — know private and hybrid as context, not as the choice.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real question isn't “which of four models” — it's “keep this system on-prem, or move it to public cloud?”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Which deployment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YAT is considering moving Ledgerline off its on-prem server.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Which deployment model fits a cloud version of Ledgerline — and why is that the right fit for YAT?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Write one short paragraph: name the model, then justify it (think about who YAT is, what it already runs, and how much it wants to manage).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~5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Cloud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Cloud computing = on-demand IT resources over the internet, pay-as-you-go.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It lets you treat infrastructure as software, not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deployment models: cloud · hybrid · on-premises (private cloud).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For YAT the real choice is binary: keep on-prem, or move to public cloud.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Service models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who manages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Cloud service models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spectrum of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IaaS — infrastructure as a service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PaaS — platform as a service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SaaS — software as a service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IaaS → SaaS = more control / more work  →  less control / less work.</a:t>
            </a:r>
          </a:p>
        </p:txBody>
      </p:sp>
      <p:pic>
        <p:nvPicPr>
          <p:cNvPr id="5" name="Picture 4" descr="service-model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926" y="1783080"/>
            <a:ext cx="1976387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Service models — who manages what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IaaS (e.g. EC2) — you manage the OS and the app; the provider handles the hardware → most control, most work. Preserve an existing stack.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PaaS (e.g. RDS, ALB) — the provider runs the platform; you run your app/data → less control, far less ops. Offload work when cloud skills are thin.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SaaS (e.g. Office 365) — the provider runs everything; you just use it → least control, least 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Choosing = control vs operational burden. Classify each part, then say why that level fits the client.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Classify the service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each, name the service model and say why: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Office 365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 VPS that comes with an OS installed, which you then configure and run your software 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 service that lets you rent compute &amp; memory and install your own OS and software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 managed database service where the provider runs, patches and backs up the engine, and you just connect and store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~8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Service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models: IaaS → PaaS → SaaS — handing over more control for less effort.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IaaS = you manage the OS up · PaaS = provider runs the platform · SaaS = you just use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deciding question is always “who manages the OS / the platform?”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Choosing isn't “best” — it's control vs operational burden for this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Core AWS services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is AWS?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secure cloud platform offering a broad set of global cloud-based products.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On-demand access to compute, storage, network, database and other IT resources — plus the tools to manage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pay only for the services you use, for as long as you use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AWS services work together like building blocks.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Selecting a Region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where your services and data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a Region based on: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data governance &amp; legal requirements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proximity to users (latency)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which services are available in the Region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cost (varies by Region)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Availability Zones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isolated, within a Region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Each Region has multiple Availability Zones.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Each AZ is a fully isolated partition of the AWS infrastructure: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discrete data centres, designed for fault isolation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interconnected by high-speed private networking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you choose your AZs; replicate across them for resiliency</a:t>
            </a:r>
          </a:p>
        </p:txBody>
      </p:sp>
      <p:pic>
        <p:nvPicPr>
          <p:cNvPr id="5" name="Picture 4" descr="availability-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10840"/>
            <a:ext cx="5120640" cy="1767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categories of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-aws-service-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203222"/>
            <a:ext cx="7223760" cy="32745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Compute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EC2 · EC2 Auto Scaling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ECS · EKS · ECR · Fargate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AWS Elastic Beanstalk · AWS Lambda</a:t>
            </a:r>
          </a:p>
        </p:txBody>
      </p:sp>
      <p:pic>
        <p:nvPicPr>
          <p:cNvPr id="5" name="Picture 4" descr="gen-34a664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Storage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EBS — block storage for EC2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EFS — managed file system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S3 — object storage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S3 Glacier — archive / long-term backup</a:t>
            </a:r>
          </a:p>
        </p:txBody>
      </p:sp>
      <p:pic>
        <p:nvPicPr>
          <p:cNvPr id="5" name="Picture 4" descr="gen-a635ad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Database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RDS — managed relational database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Aurora — MySQL/PostgreSQL-compatible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DynamoDB — key-value / document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Redshift — analytics / data warehouse</a:t>
            </a:r>
          </a:p>
        </p:txBody>
      </p:sp>
      <p:pic>
        <p:nvPicPr>
          <p:cNvPr id="5" name="Picture 4" descr="gen-90cedd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Networking &amp; content delivery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service category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VPC — isolated virtual network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Elastic Load Balancing · Route 53 (DNS)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Amazon CloudFront — content delivery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AWS Direct Connect · Transit Gateway · VPN</a:t>
            </a:r>
          </a:p>
        </p:txBody>
      </p:sp>
      <p:pic>
        <p:nvPicPr>
          <p:cNvPr id="5" name="Picture 4" descr="gen-0312fd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the pieces fit — the web-app pattern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Ledgerline sketch wasn't random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Internet → ALB → EC2 / Auto Scaling Group → RDS  (+ S3, CloudWatch)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ALB — spreads incoming traffic across servers · PaaS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EC2 + Auto Scaling Group — the app tier; runs the app, scales with demand · IaaS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RDS — managed database (here, SQL Server) · PaaS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S3 — object storage (scanned invoices/POs) · EBS — disks on the EC2 servers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CloudWatch — monitors all of the above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Activity: AWS Management Console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educator-led clickthrough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We'll log in to the AWS Management Console together.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You'll answer five questions as we navigate; we discuss and reveal each answer.</a:t>
            </a:r>
          </a:p>
        </p:txBody>
      </p:sp>
      <p:pic>
        <p:nvPicPr>
          <p:cNvPr id="5" name="Picture 4" descr="01-aws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47028"/>
            <a:ext cx="5120640" cy="26954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Hands-on: Console clickthrough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Launch the AWS Academy Learner Lab and connect to the AWS Management Console.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Open the Services menu — notice services are grouped into categories (EC2 → Compute).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Q1: which category is the IAM service under?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Q2: which category is Amazon VPC under?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000" b="0" i="0">
                <a:solidFill>
                  <a:srgbClr val="2A2929"/>
                </a:solidFill>
                <a:latin typeface="Roboto"/>
              </a:rPr>
              <a:t>Open VPC; switch the Region menu (e.g. to EU (London)); open Subnets, select one.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Q3: does a subnet exist at Region level or Availability-Zone level?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Q4: does a VPC exist at Region level or AZ level?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Q5: which are global, not Regional — EC2, IAM, Lambda, Route 53?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Activity answer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Q1 — IAM → Security, Identity &amp; Compliance.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Q2 — Amazon VPC → Networking &amp; Content Delivery.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Q3 — subnets exist at the Availability-Zone level.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Q4 — VPCs exist at the Region level.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Q5 — IAM and Route 53 are global; EC2 and Lambda are Regional.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Core AWS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AWS groups services into categories — compute, storage, database, networking…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Web-app building blocks: EC2 (compute) · S3/EBS (storage) · RDS (database) · ALB/VPC (networking).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Regions and Availability Zones decide where services run — for residency and resilience.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They assemble into one shape: Internet → ALB → EC2/ASG → RDS (+ S3, CloudWatch).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At this stage: name each service and its role — not build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Industry technology standards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standards that inform a migration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AWS Well-Architected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guide for designing infrastructure that is: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secure · high-performing · resilient · efficient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consistent way to evaluate and improve cloud architectures.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Best practices drawn from reviewing thousands of customer architectures.</a:t>
            </a:r>
          </a:p>
        </p:txBody>
      </p:sp>
      <p:pic>
        <p:nvPicPr>
          <p:cNvPr id="5" name="Picture 4" descr="01-well-architected-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65032"/>
            <a:ext cx="5120640" cy="34594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Standards that inform a migration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each guides a different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Standard</a:t>
                      </a:r>
                    </a:p>
                  </a:txBody>
                  <a:tcPr marL="76200" marR="76200"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What it is</a:t>
                      </a:r>
                    </a:p>
                  </a:txBody>
                  <a:tcPr marL="76200" marR="76200">
                    <a:solidFill>
                      <a:srgbClr val="004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Informs…</a:t>
                      </a:r>
                    </a:p>
                  </a:txBody>
                  <a:tcPr marL="76200" marR="76200">
                    <a:solidFill>
                      <a:srgbClr val="004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NIST SP 800-145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The definition of IaaS / PaaS / SaaS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service-model choices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AWS Well-Architected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Six design pillars (incl. Reliability)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design quality + how you improve it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ISO/IEC 27017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Cloud-specific security controls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security decisions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ACSC Essential Eight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Australian baseline cyber mitigations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security controls / compliance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ITIL 4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Service-management practices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change-management alignment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You're not implementing these — you're naming the right standard for a given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Which standard informs the decision?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For each decision, name the standard and give a one-line why: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Deciding whether each part of a solution is IaaS, PaaS or SaaS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Choosing the cloud security controls for a system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Meeting an Australian baseline of cyber mitigations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Judging whether an architecture is well-designed and reliable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Planning the change-management around a migration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~8 min, then we compare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Section 4 · Industry standards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migration is informed by several standards — each guides a different decision.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NIST → service models · Well-Architected → design quality · ISO 27017 → cloud security · Essential Eight → AU baseline · ITIL 4 → change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Well-Architected's Reliability pillar comes back when you design for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skill now is recognising the right standard for a decision, not implementing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Cloud cost models &amp; economics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why a migration is a cost conversation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pricing model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three fundamental cost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Compute — charged per hour/second, varies by instance type.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Storage — charged typically per GB.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Data transfer — outbound is aggregated and charged; inbound is mostly free.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How do you pay for AWS?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Pay for what you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Pay less when you reserve.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Pay less when you use more, and as AWS grows.</a:t>
            </a:r>
          </a:p>
        </p:txBody>
      </p:sp>
      <p:pic>
        <p:nvPicPr>
          <p:cNvPr id="5" name="Picture 4" descr="01-aws-pricing-philosop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964981"/>
            <a:ext cx="5120640" cy="16595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Pay less when you reserve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Reserved Instances (RIs)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Invest in Reserved Instances — save up to 75%.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Options (more upfront = bigger discount):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All Upfront (AURI) — largest discount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Partial Upfront (PURI) — lower discount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No Upfront (NURI) — smallest discount</a:t>
            </a:r>
          </a:p>
        </p:txBody>
      </p:sp>
      <p:pic>
        <p:nvPicPr>
          <p:cNvPr id="5" name="Picture 4" descr="01-reserved-instance-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51400"/>
            <a:ext cx="5120640" cy="22867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AWS Pricing Calculator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model the cost before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Estimate monthly costs and find ways to reduce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Model solutions before building them; explore the calculations behind an estimate.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Find instance types &amp; contract terms; group services to organise an estimate.</a:t>
            </a:r>
          </a:p>
        </p:txBody>
      </p:sp>
      <p:pic>
        <p:nvPicPr>
          <p:cNvPr id="5" name="Picture 4" descr="01-pricing-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97709"/>
            <a:ext cx="5120640" cy="29941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Reading an estimate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 estimate is broken into three figures: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First 12 months total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Total upfront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Total monthly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Match the pricing model to the workload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cost follows the shape of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828800"/>
          <a:ext cx="1088136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Workload profile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Roboto"/>
                        </a:rPr>
                        <a:t>Best-fit pricing</a:t>
                      </a:r>
                    </a:p>
                  </a:txBody>
                  <a:tcPr marL="76200" marR="76200">
                    <a:solidFill>
                      <a:srgbClr val="922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Predictable, always-on baseline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Reserved Instances (commit, pay less)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Variable / peaky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On-demand or autoscaling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Interruptible, can be retried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Spot (cheapest — not for production baseline)</a:t>
                      </a:r>
                    </a:p>
                  </a:txBody>
                  <a:tcPr marL="76200" marR="762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Storage &amp; data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A2929"/>
                          </a:solidFill>
                          <a:latin typeface="Roboto"/>
                        </a:rPr>
                        <a:t>Pay-as-you-go (scales with usage)</a:t>
                      </a:r>
                    </a:p>
                  </a:txBody>
                  <a:tcPr marL="76200" marR="76200" marT="50800" marB="50800"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1">
                <a:solidFill>
                  <a:srgbClr val="484848"/>
                </a:solidFill>
                <a:latin typeface="Roboto Light"/>
              </a:rPr>
              <a:t>Watch licensing: a Windows + SQL Server system carries software-licence cost on top of infrastructure — easy to miss.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Additional benefit considerations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hard and soft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Hard benefits: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lower spend on compute, storage, networking, security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fewer hardware/software purchases (capex); lower ops, backup &amp; DR costs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Soft benefits: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reuse of services; higher developer productivity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improved customer satisfaction; agility; greater 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5 · Cost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cost drivers: compute · storage · data transfer.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Three ways to pay: pay-as-you-go · reserve (commit for less) · pay-less-as-you-grow.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Match pricing to the workload — baseline→reserved, peaky→on-demand, storage→pay-as-you-go.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Don't forget software licensing (e.g. Windows / SQL Server) on top of infrastructure.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9864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769864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9864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Cost grows roughly with demand — that's why moving a system is a cost conversation.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literacy to the job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now classify deployment and service models, name the building blocks, point to the right standard, and reason about cost.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That's the literacy a consultant needs before recommending whether to move a system to the cloud.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Next, you'll put it to work — weighing the options and making the case for a real migration.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the same skills carry to whatever engagement lands on your desk.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