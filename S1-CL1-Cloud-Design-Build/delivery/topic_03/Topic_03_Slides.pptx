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the map for the whole Topic — you're bridging from Topic 2 (the diagnosis) to the</a:t>
            </a:r>
          </a:p>
          <a:p>
            <a:r>
              <a:t>evidence a decision rests on. Set the shape, don't teach content yet.</a:t>
            </a:r>
          </a:p>
          <a:p>
            <a:r>
              <a:t>• The hinge line: a board doesn't fund a PROBLEM — it funds a well-evidenced ANSWER. Topic 2 proved</a:t>
            </a:r>
          </a:p>
          <a:p>
            <a:r>
              <a:t>the problem; today builds the answer.</a:t>
            </a:r>
          </a:p>
          <a:p>
            <a:r>
              <a:t>• Preview the three moves — lay out the OPTIONS → COST them over time → weigh the RISKS. Each maps to</a:t>
            </a:r>
          </a:p>
          <a:p>
            <a:r>
              <a:t>a section today and each becomes the next section of the same business case.</a:t>
            </a:r>
          </a:p>
          <a:p>
            <a:r>
              <a:t>• Stress the edge (the accent line): you still DON'T recommend today. You assemble the evidence a</a:t>
            </a:r>
          </a:p>
          <a:p>
            <a:r>
              <a:t>recommendation will rest on — the call itself is Topic 4.</a:t>
            </a:r>
          </a:p>
          <a:p>
            <a:r>
              <a:t>• Where this fits: they're still MTS consultants advising YAT; this is the analytical core of the</a:t>
            </a:r>
          </a:p>
          <a:p>
            <a:r>
              <a:t>business case they've been building on Ledgerline all along.</a:t>
            </a:r>
          </a:p>
          <a:p>
            <a:r>
              <a:t>Misconception to pre-empt: "the evidence IS the recommendation." No — comparing and costing options</a:t>
            </a:r>
          </a:p>
          <a:p>
            <a:r>
              <a:t>is not the same as choosing one; keep them from jumping to "move to cloud" before the evidence is in.</a:t>
            </a:r>
          </a:p>
          <a:p>
            <a:r>
              <a:t>Question to pose: "You've proved Ledgerline's on-prem setup is a problem — why isn't that enough to</a:t>
            </a:r>
          </a:p>
          <a:p>
            <a:r>
              <a:t>get a board to write a cheque?" (they fund an evidenced answer, not a problem).</a:t>
            </a:r>
          </a:p>
          <a:p>
            <a:r>
              <a:t>UoC/AT1 tie: this Topic develops PC 2.1/2.2 and feeds AT1 §5–§7 (Options, CBA, Risk).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1 — the discipline of comparison before choice. Short, high-leverage framing slide.</a:t>
            </a:r>
          </a:p>
          <a:p>
            <a:r>
              <a:t>• The core idea: a single proposal isn't a case, it's an assertion. Credible advice compares</a:t>
            </a:r>
          </a:p>
          <a:p>
            <a:r>
              <a:t>realistic options on a LEVEL FIELD — same yardstick, same horizon.</a:t>
            </a:r>
          </a:p>
          <a:p>
            <a:r>
              <a:t>• The accent line is the job description for this section: lay the options out and EVALUATE them —</a:t>
            </a:r>
          </a:p>
          <a:p>
            <a:r>
              <a:t>not pick one. Picking is later.</a:t>
            </a:r>
          </a:p>
          <a:p>
            <a:r>
              <a:t>• Make it consultant-real: a client can smell a foregone conclusion; showing you weighed the</a:t>
            </a:r>
          </a:p>
          <a:p>
            <a:r>
              <a:t>alternatives is what makes the eventual recommendation trustworthy.</a:t>
            </a:r>
          </a:p>
          <a:p>
            <a:r>
              <a:t>Misconception to pre-empt: that presenting one well-argued option is thorough. It isn't — without a</a:t>
            </a:r>
          </a:p>
          <a:p>
            <a:r>
              <a:t>compared alternative there's no evidence the chosen path is better, only that it's advocated.</a:t>
            </a:r>
          </a:p>
          <a:p>
            <a:r>
              <a:t>Question to pose: "If a consultant handed you one option and said 'do this', what would you, as the</a:t>
            </a:r>
          </a:p>
          <a:p>
            <a:r>
              <a:t>client, immediately want to know?" (what else was considered, and why not that).</a:t>
            </a:r>
          </a:p>
          <a:p>
            <a:r>
              <a:t>UoC/AT1 tie: KE 3 (methods of evaluating competing/complementary systems); this is AT1 §5's premise.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this as the anchor of the whole section — you can't compare options until you've stated what</a:t>
            </a:r>
          </a:p>
          <a:p>
            <a:r>
              <a:t>any option must satisfy. Give it weight.</a:t>
            </a:r>
          </a:p>
          <a:p>
            <a:r>
              <a:t>• Walk it: before comparing, write down the workload/requirements — pulled from their Topic 2 gap</a:t>
            </a:r>
          </a:p>
          <a:p>
            <a:r>
              <a:t>analysis plus the migration requirements: capacity &amp; peaks, availability target, recovery</a:t>
            </a:r>
          </a:p>
          <a:p>
            <a:r>
              <a:t>(RPO/RTO), data residency &amp; retention, integrations.</a:t>
            </a:r>
          </a:p>
          <a:p>
            <a:r>
              <a:t>• The accent line: write it down FIRST — it's the yardstick every option is measured against. Without</a:t>
            </a:r>
          </a:p>
          <a:p>
            <a:r>
              <a:t>it, "better" has no meaning.</a:t>
            </a:r>
          </a:p>
          <a:p>
            <a:r>
              <a:t>• Make RPO/RTO concrete for an accounting system: how much data could Ledgerline afford to lose, and</a:t>
            </a:r>
          </a:p>
          <a:p>
            <a:r>
              <a:t>how long could it be down, before the business hurts?</a:t>
            </a:r>
          </a:p>
          <a:p>
            <a:r>
              <a:t>Misconception to pre-empt: that requirements are obvious and can stay in your head. No — an unwritten</a:t>
            </a:r>
          </a:p>
          <a:p>
            <a:r>
              <a:t>requirement is one an option can silently fail; the written list is what keeps the comparison honest.</a:t>
            </a:r>
          </a:p>
          <a:p>
            <a:r>
              <a:t>Question to pose: "What must ANY Ledgerline solution do, regardless of whether it's on-prem or cloud?"</a:t>
            </a:r>
          </a:p>
          <a:p>
            <a:r>
              <a:t>(surfaces the shared yardstick before options enter).</a:t>
            </a:r>
          </a:p>
          <a:p>
            <a:r>
              <a:t>UoC/AT1 tie: KE 2 (methods of evaluation/planning) → AT1 §5.1 (workload definition).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option-framing — the set must be honest and small, and must include the status quo.</a:t>
            </a:r>
          </a:p>
          <a:p>
            <a:r>
              <a:t>• Walk the set: Option A = renew / stay on-prem (the status-quo baseline); Option B = migrate to the</a:t>
            </a:r>
          </a:p>
          <a:p>
            <a:r>
              <a:t>cloud. Name a third only if it's genuinely real (don't invent a straw man to knock down).</a:t>
            </a:r>
          </a:p>
          <a:p>
            <a:r>
              <a:t>• The accent line does the heavy lifting: every comparison NEEDS the status-quo option — or "moving"</a:t>
            </a:r>
          </a:p>
          <a:p>
            <a:r>
              <a:t>has nothing to beat. Doing nothing is always a real option.</a:t>
            </a:r>
          </a:p>
          <a:p>
            <a:r>
              <a:t>• Tie to YAT: Option A isn't "do nothing" — it's actively renewing the on-prem server (real capex);</a:t>
            </a:r>
          </a:p>
          <a:p>
            <a:r>
              <a:t>that's what makes it a fair contender, not a punching bag.</a:t>
            </a:r>
          </a:p>
          <a:p>
            <a:r>
              <a:t>Misconception to pre-empt: that more options = more thorough. No — a bloated option set dilutes the</a:t>
            </a:r>
          </a:p>
          <a:p>
            <a:r>
              <a:t>analysis; two well-chosen, genuinely-considered options beat five token ones.</a:t>
            </a:r>
          </a:p>
          <a:p>
            <a:r>
              <a:t>Question to pose: "Why must 'keep Ledgerline on-prem' be one of the options, even in a report that's</a:t>
            </a:r>
          </a:p>
          <a:p>
            <a:r>
              <a:t>probably heading toward cloud?" (a comparison needs a baseline; it keeps the case credible).</a:t>
            </a:r>
          </a:p>
          <a:p>
            <a:r>
              <a:t>UoC/AT1 tie: KE 3 → AT1 §5.2 (options considered).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evaluation lenses — this is where "gut feel" becomes a defensible method.</a:t>
            </a:r>
          </a:p>
          <a:p>
            <a:r>
              <a:t>• Two stated lenses: IMPACT against the strategic objectives (does it move the org toward its goals?)</a:t>
            </a:r>
          </a:p>
          <a:p>
            <a:r>
              <a:t>and DIFFICULTY of implementing (effort, disruption, skills, dependencies).</a:t>
            </a:r>
          </a:p>
          <a:p>
            <a:r>
              <a:t>• The method: score each option on each lens and SHOW the reasoning — a score with no rationale is</a:t>
            </a:r>
          </a:p>
          <a:p>
            <a:r>
              <a:t>just an opinion with a number on it. Cost is deliberately held back to Section 2.</a:t>
            </a:r>
          </a:p>
          <a:p>
            <a:r>
              <a:t>• Tie to YAT: impact = does moving Ledgerline serve YAT's actual objectives; difficulty = a small RTO</a:t>
            </a:r>
          </a:p>
          <a:p>
            <a:r>
              <a:t>with thin cloud skills faces a real learning curve — that's a legitimate difficulty score.</a:t>
            </a:r>
          </a:p>
          <a:p>
            <a:r>
              <a:t>Misconception to pre-empt: that "evaluation method" means a formula that spits out the answer. No —</a:t>
            </a:r>
          </a:p>
          <a:p>
            <a:r>
              <a:t>it's a stated, consistent basis for judgement; the value is transparency, not automation.</a:t>
            </a:r>
          </a:p>
          <a:p>
            <a:r>
              <a:t>Question to pose: "Two options both look good — what two questions let you rank them without</a:t>
            </a:r>
          </a:p>
          <a:p>
            <a:r>
              <a:t>mentioning money yet?" (how much does each move the objectives; how hard is each to do).</a:t>
            </a:r>
          </a:p>
          <a:p>
            <a:r>
              <a:t>UoC/AT1 tie: PC 2.1 (evaluate impact vs strategic objectives) + PC 2.2/PE 5 (evaluate difficulty) → §5.3.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synthesis slide — the qualitative shortlist before the numbers arrive. Lean on the matrix idea.</a:t>
            </a:r>
          </a:p>
          <a:p>
            <a:r>
              <a:t>• A simple matrix communicates it: each option plotted on {impact, difficulty}. High impact + low</a:t>
            </a:r>
          </a:p>
          <a:p>
            <a:r>
              <a:t>difficulty = a strong candidate; high impact + high difficulty = real, but plan for it.</a:t>
            </a:r>
          </a:p>
          <a:p>
            <a:r>
              <a:t>• The accent line: this is the QUALITATIVE shortlist — the CBA (Section 2) and the risk section</a:t>
            </a:r>
          </a:p>
          <a:p>
            <a:r>
              <a:t>(Section 3) test it next. It's a first read, not a verdict.</a:t>
            </a:r>
          </a:p>
          <a:p>
            <a:r>
              <a:t>• Keep it honest: a high-difficulty option isn't disqualified — it's flagged for planning; that</a:t>
            </a:r>
          </a:p>
          <a:p>
            <a:r>
              <a:t>nuance is what a mature consultant brings.</a:t>
            </a:r>
          </a:p>
          <a:p>
            <a:r>
              <a:t>Misconception to pre-empt: that the matrix decides. It doesn't — it organises the qualitative read so</a:t>
            </a:r>
          </a:p>
          <a:p>
            <a:r>
              <a:t>the cost and risk work can confirm or overturn it; a cheap-looking option can still lose on risk.</a:t>
            </a:r>
          </a:p>
          <a:p>
            <a:r>
              <a:t>Question to pose: "Where does 'migrate Ledgerline to cloud' land on impact vs difficulty for YAT —</a:t>
            </a:r>
          </a:p>
          <a:p>
            <a:r>
              <a:t>and does landing in 'high difficulty' kill it?" (no — it means plan for it).</a:t>
            </a:r>
          </a:p>
          <a:p>
            <a:r>
              <a:t>UoC/AT1 tie: PC 2.1 + PC 2.2 together → AT1 §5.4 (the impact/difficulty assessment).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1 practice; students build AT1 §5 in miniature on the practice case.</a:t>
            </a:r>
          </a:p>
          <a:p>
            <a:r>
              <a:t>Tell students: "In your working copy of the Business Case, add the Options Considered and Evaluation</a:t>
            </a:r>
          </a:p>
          <a:p>
            <a:r>
              <a:t>section for the Accounting System (Ledgerline). Evaluate the options — do NOT decide yet."</a:t>
            </a:r>
          </a:p>
          <a:p>
            <a:r>
              <a:t>Steps (put on the board):</a:t>
            </a:r>
          </a:p>
          <a:p>
            <a:r>
              <a:t>1. State the workload/requirements an option must satisfy (from your gap table + migration reqs).</a:t>
            </a:r>
          </a:p>
          <a:p>
            <a:r>
              <a:t>2. Lay out Option A (renew on-prem) and Option B (migrate to cloud).</a:t>
            </a:r>
          </a:p>
          <a:p>
            <a:r>
              <a:t>3. Pick an evaluation method; assess each option's impact (vs objectives) and difficulty.</a:t>
            </a:r>
          </a:p>
          <a:p>
            <a:r>
              <a:t>Must produce: ~½–1 page — a written workload definition, two laid-out options, and a scored</a:t>
            </a:r>
          </a:p>
          <a:p>
            <a:r>
              <a:t>impact/difficulty evaluation with reasoning.</a:t>
            </a:r>
          </a:p>
          <a:p>
            <a:r>
              <a:t>Timing: ~20 min then discuss. Where they get stuck: they leap to a recommendation — pull them back to</a:t>
            </a:r>
          </a:p>
          <a:p>
            <a:r>
              <a:t>EVALUATE; and they forget the workload definition — remind them options are judged against it.</a:t>
            </a:r>
          </a:p>
          <a:p>
            <a:r>
              <a:t>Share-back prompt: take two groups' difficulty scores for Option B and ask why they differ.</a:t>
            </a:r>
          </a:p>
          <a:p>
            <a:r>
              <a:t>No-leakage note: this is practice on Ledgerline; AT1 assesses the same §5 skill on the LMS —</a:t>
            </a:r>
          </a:p>
          <a:p>
            <a:r>
              <a:t>comparable, not identical. Keep them anchored to the practice case.</a:t>
            </a:r>
          </a:p>
          <a:p>
            <a:r>
              <a:t>UoC/AT1 tie: PC 2.1/2.2, PE 5, KE 2/3 → AT1 §5.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2 — the CBA turns a feeling into evidence. Set the frame before the mechanics.</a:t>
            </a:r>
          </a:p>
          <a:p>
            <a:r>
              <a:t>• The core: a CBA compares the options in MONEY, over TIME — here, a 5-year horizon. It turns "cloud</a:t>
            </a:r>
          </a:p>
          <a:p>
            <a:r>
              <a:t>feels cheaper" into evidence, or disproves it (sometimes cloud isn't cheaper — that's a valid finding).</a:t>
            </a:r>
          </a:p>
          <a:p>
            <a:r>
              <a:t>• The accent line: a board decides on TOTAL cost + benefit over the horizon, not a monthly price. A</a:t>
            </a:r>
          </a:p>
          <a:p>
            <a:r>
              <a:t>monthly figure alone hides the upfront and the long tail.</a:t>
            </a:r>
          </a:p>
          <a:p>
            <a:r>
              <a:t>• Callback to Topic 1 §5: this is where the cost-model theory (compute/storage/data-transfer, reserved</a:t>
            </a:r>
          </a:p>
          <a:p>
            <a:r>
              <a:t>vs on-demand) gets APPLIED to real numbers — you're not re-teaching it, you're using it.</a:t>
            </a:r>
          </a:p>
          <a:p>
            <a:r>
              <a:t>Misconception to pre-empt: "the cheapest monthly bill wins." No — the horizon and upfront commitments</a:t>
            </a:r>
          </a:p>
          <a:p>
            <a:r>
              <a:t>can reverse a monthly-only read; the 5-year total is the honest comparison.</a:t>
            </a:r>
          </a:p>
          <a:p>
            <a:r>
              <a:t>Question to pose: "Why compare Ledgerline's options over 5 years instead of just this month's bill?"</a:t>
            </a:r>
          </a:p>
          <a:p>
            <a:r>
              <a:t>(capex, reserved commitments and lifecycle only show up over time).</a:t>
            </a:r>
          </a:p>
          <a:p>
            <a:r>
              <a:t>UoC/AT1 tie: FS Numeracy (interprets/uses numerical info) + applied KE 4 → AT1 §6 + Appendix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anatomy of the CBA so their AT1 §6 has the right parts. Lean on the structure.</a:t>
            </a:r>
          </a:p>
          <a:p>
            <a:r>
              <a:t>• Walk the chain: assumptions → per-option 5-year costs → benefits (including avoided downtime) →</a:t>
            </a:r>
          </a:p>
          <a:p>
            <a:r>
              <a:t>comparison summary. Compare like-for-like over the same horizon.</a:t>
            </a:r>
          </a:p>
          <a:p>
            <a:r>
              <a:t>• The accent line: state EVERY assumption — an unstated assumption is a hole in the case. Hours,</a:t>
            </a:r>
          </a:p>
          <a:p>
            <a:r>
              <a:t>instance size, region, licence terms, growth — name them or the numbers can't be trusted.</a:t>
            </a:r>
          </a:p>
          <a:p>
            <a:r>
              <a:t>• Where things live: detailed line items go in Appendix 1; the §6 section shows only the summary. Keep</a:t>
            </a:r>
          </a:p>
          <a:p>
            <a:r>
              <a:t>the body readable; put the arithmetic in the appendix.</a:t>
            </a:r>
          </a:p>
          <a:p>
            <a:r>
              <a:t>Misconception to pre-empt: that a CBA is just a table of prices. No — it's assumptions + costs +</a:t>
            </a:r>
          </a:p>
          <a:p>
            <a:r>
              <a:t>benefits; the stated assumptions are what make it credible, not the table.</a:t>
            </a:r>
          </a:p>
          <a:p>
            <a:r>
              <a:t>Question to pose: "If I challenged one number in your Ledgerline CBA, what would let you defend it?"</a:t>
            </a:r>
          </a:p>
          <a:p>
            <a:r>
              <a:t>(a stated assumption or a cited source behind every figure).</a:t>
            </a:r>
          </a:p>
          <a:p>
            <a:r>
              <a:t>UoC/AT1 tie: FS Numeracy → AT1 §6 (summary) + Appendix 1 (line items).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how to cost the status-quo option fairly — students under-cost on-prem because it's "already there".</a:t>
            </a:r>
          </a:p>
          <a:p>
            <a:r>
              <a:t>• Walk it: Option A = renew / keep on-prem. Cost it from the operational-costing facts — capex (server</a:t>
            </a:r>
          </a:p>
          <a:p>
            <a:r>
              <a:t>refresh) + opex (power, maintenance, licences, admin time), over the full 5 years.</a:t>
            </a:r>
          </a:p>
          <a:p>
            <a:r>
              <a:t>• The accent line — the trap: software LICENSING (Windows / SQL Server) rides on BOTH options; don't</a:t>
            </a:r>
          </a:p>
          <a:p>
            <a:r>
              <a:t>drop it from A or you flatter the on-prem number and skew the comparison.</a:t>
            </a:r>
          </a:p>
          <a:p>
            <a:r>
              <a:t>• Push completeness: admin time and a mid-life hardware refresh are real on-prem costs students forget;</a:t>
            </a:r>
          </a:p>
          <a:p>
            <a:r>
              <a:t>a fair Option A includes the boring, ongoing money.</a:t>
            </a:r>
          </a:p>
          <a:p>
            <a:r>
              <a:t>Misconception to pre-empt: "on-prem is basically free because we own it." No — owned kit still costs</a:t>
            </a:r>
          </a:p>
          <a:p>
            <a:r>
              <a:t>power, maintenance, licences, admin and eventual refresh; ignoring those rigs the CBA toward on-prem.</a:t>
            </a:r>
          </a:p>
          <a:p>
            <a:r>
              <a:t>Question to pose: "What on-prem costs would YAT keep paying even though the server is already bought?"</a:t>
            </a:r>
          </a:p>
          <a:p>
            <a:r>
              <a:t>(power, maintenance, licences, admin time, refresh).</a:t>
            </a:r>
          </a:p>
          <a:p>
            <a:r>
              <a:t>UoC/AT1 tie: FS Numeracy → AT1 §6 (Option A costing).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tool that turns cost knowledge into a real Option-B number. The screenshot is a</a:t>
            </a:r>
          </a:p>
          <a:p>
            <a:r>
              <a:t>placeholder — point to it, or open calculator.aws live.</a:t>
            </a:r>
          </a:p>
          <a:p>
            <a:r>
              <a:t>• What it does (walk the bullets): estimate monthly costs and find ways to reduce them; MODEL a</a:t>
            </a:r>
          </a:p>
          <a:p>
            <a:r>
              <a:t>solution before building it; find instance types &amp; contract terms; group services into an estimate.</a:t>
            </a:r>
          </a:p>
          <a:p>
            <a:r>
              <a:t>• Frame it as the consultant's estimating instrument — this is literally how they'll size Option B for</a:t>
            </a:r>
          </a:p>
          <a:p>
            <a:r>
              <a:t>the CBA. It sizes the cloud option; it does NOT assemble the comparison (that's the next slide).</a:t>
            </a:r>
          </a:p>
          <a:p>
            <a:r>
              <a:t>• Set up the activity coming next: they'll use it in groups against supplied specifications.</a:t>
            </a:r>
          </a:p>
          <a:p>
            <a:r>
              <a:t>Misconception to pre-empt: "the calculator's number is the bill." It's an ESTIMATE built on your</a:t>
            </a:r>
          </a:p>
          <a:p>
            <a:r>
              <a:t>assumptions (usage, hours, region, instance size) — change an assumption and the number changes;</a:t>
            </a:r>
          </a:p>
          <a:p>
            <a:r>
              <a:t>document them.</a:t>
            </a:r>
          </a:p>
          <a:p>
            <a:r>
              <a:t>Question to pose: "Before you can price Ledgerline's cloud option, what do you need to decide first?"</a:t>
            </a:r>
          </a:p>
          <a:p>
            <a:r>
              <a:t>(which services, instance size, hours, storage, data transfer — the assumptions).</a:t>
            </a:r>
          </a:p>
          <a:p>
            <a:r>
              <a:t>UoC/AT1 tie: FS Numeracy + applied KE 4 → directly enables AT1 §6 Option B + Appendix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a hands-on group build; the output feeds their CBA. You circulate, they build.</a:t>
            </a:r>
          </a:p>
          <a:p>
            <a:r>
              <a:t>Tell students: "In groups, use the AWS Pricing Calculator and the supplied specifications to build a</a:t>
            </a:r>
          </a:p>
          <a:p>
            <a:r>
              <a:t>cost estimate for the CLOUD option. This estimate becomes Option B in your CBA."</a:t>
            </a:r>
          </a:p>
          <a:p>
            <a:r>
              <a:t>Steps (put on the board):</a:t>
            </a:r>
          </a:p>
          <a:p>
            <a:r>
              <a:t>1. Size the Accounting System's compute, storage, database and data transfer from the specs.</a:t>
            </a:r>
          </a:p>
          <a:p>
            <a:r>
              <a:t>2. Name your estimate; group the services so the estimate is organised.</a:t>
            </a:r>
          </a:p>
          <a:p>
            <a:r>
              <a:t>3. Capture the monthly AND annual figures; be ready to report back.</a:t>
            </a:r>
          </a:p>
          <a:p>
            <a:r>
              <a:t>Must produce: a named, service-grouped calculator estimate with monthly + annual totals, ready to</a:t>
            </a:r>
          </a:p>
          <a:p>
            <a:r>
              <a:t>drop into the CBA as Option B.</a:t>
            </a:r>
          </a:p>
          <a:p>
            <a:r>
              <a:t>Timing: ~20 min then report back. Where they get stuck: choosing an instance size (give them the spec</a:t>
            </a:r>
          </a:p>
          <a:p>
            <a:r>
              <a:t>figure), and forgetting data-transfer egress (a Topic 1 callback) — prompt them for it.</a:t>
            </a:r>
          </a:p>
          <a:p>
            <a:r>
              <a:t>Share-back prompt: compare two groups' monthly figures and ask which assumption drove the difference.</a:t>
            </a:r>
          </a:p>
          <a:p>
            <a:r>
              <a:t>No-leakage note: practice sizing on Ledgerline's specs; AT1 has them size the assessed system's cloud</a:t>
            </a:r>
          </a:p>
          <a:p>
            <a:r>
              <a:t>option the same way — comparable, not identical.</a:t>
            </a:r>
          </a:p>
          <a:p>
            <a:r>
              <a:t>UoC/AT1 tie: FS Numeracy → AT1 §6 (Option B sizing) + Appendix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part the calculator can't do — the comparison itself. This is where a CBA earns</a:t>
            </a:r>
          </a:p>
          <a:p>
            <a:r>
              <a:t>its credibility.</a:t>
            </a:r>
          </a:p>
          <a:p>
            <a:r>
              <a:t>• Walk it: a 5-year comparison summary of Option A vs Option B, like-for-like; an avoided-downtime</a:t>
            </a:r>
          </a:p>
          <a:p>
            <a:r>
              <a:t>BENEFIT (value the reliability gain, don't just assert it).</a:t>
            </a:r>
          </a:p>
          <a:p>
            <a:r>
              <a:t>• The accent line: state the assumptions the comparison rests on, and where each figure came from —</a:t>
            </a:r>
          </a:p>
          <a:p>
            <a:r>
              <a:t>that's what makes the numbers checkable rather than asserted.</a:t>
            </a:r>
          </a:p>
          <a:p>
            <a:r>
              <a:t>• Make avoided-downtime concrete: if on-prem Ledgerline goes down X hours/year and cloud cuts that,</a:t>
            </a:r>
          </a:p>
          <a:p>
            <a:r>
              <a:t>put a defensible dollar value on the hours saved — a benefit, not just a cost line.</a:t>
            </a:r>
          </a:p>
          <a:p>
            <a:r>
              <a:t>Misconception to pre-empt: "the calculator gives me the CBA." No — it sizes ONE option; you assemble</a:t>
            </a:r>
          </a:p>
          <a:p>
            <a:r>
              <a:t>the comparison and add the benefits yourself. The judgement is the human part.</a:t>
            </a:r>
          </a:p>
          <a:p>
            <a:r>
              <a:t>Question to pose: "Which assumption in your Ledgerline CBA are you least sure of, and where did that</a:t>
            </a:r>
          </a:p>
          <a:p>
            <a:r>
              <a:t>figure come from?" (surfaces sourcing, which the assessment now asks for).</a:t>
            </a:r>
          </a:p>
          <a:p>
            <a:r>
              <a:t>UoC/AT1 tie: FS Numeracy + PC 2.1 (impact) → AT1 §6.4–§6.5 (benefit, comparison).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2 capstone practice; students assemble the full §6 + Appendix 1.</a:t>
            </a:r>
          </a:p>
          <a:p>
            <a:r>
              <a:t>Tell students: "In your working copy of the Business Case, add the Cost-Benefit Analysis (§6) and</a:t>
            </a:r>
          </a:p>
          <a:p>
            <a:r>
              <a:t>Appendix 1 for the Accounting System. Like-for-like, same 5-year horizon, every figure traceable."</a:t>
            </a:r>
          </a:p>
          <a:p>
            <a:r>
              <a:t>Steps (put on the board):</a:t>
            </a:r>
          </a:p>
          <a:p>
            <a:r>
              <a:t>1. Cost Option A (renew on-prem) from the operational-costing doc.</a:t>
            </a:r>
          </a:p>
          <a:p>
            <a:r>
              <a:t>2. Size Option B using your Pricing Calculator estimate from the last activity.</a:t>
            </a:r>
          </a:p>
          <a:p>
            <a:r>
              <a:t>3. State assumptions and their sources; build the 5-year comparison; add avoided-downtime benefit.</a:t>
            </a:r>
          </a:p>
          <a:p>
            <a:r>
              <a:t>Must produce: ~1 page §6 summary + Appendix 1 line items — a like-for-like 5-year comparison with</a:t>
            </a:r>
          </a:p>
          <a:p>
            <a:r>
              <a:t>stated assumptions with sources, and an avoided-downtime benefit.</a:t>
            </a:r>
          </a:p>
          <a:p>
            <a:r>
              <a:t>Timing: ~30 min then compare. Where they get stuck: mismatched horizons (force both to 5 years) and</a:t>
            </a:r>
          </a:p>
          <a:p>
            <a:r>
              <a:t>untraceable figures — every number ties back to an assumption or a source.</a:t>
            </a:r>
          </a:p>
          <a:p>
            <a:r>
              <a:t>Share-back prompt: take one group's result and ask the room whether the assumptions are defensible.</a:t>
            </a:r>
          </a:p>
          <a:p>
            <a:r>
              <a:t>No-leakage note: practice CBA on Ledgerline; AT1 assesses the same §6 build on the LMS — comparable,</a:t>
            </a:r>
          </a:p>
          <a:p>
            <a:r>
              <a:t>not identical.</a:t>
            </a:r>
          </a:p>
          <a:p>
            <a:r>
              <a:t>UoC/AT1 tie: FS Numeracy, applied KE 4 → AT1 §6 + Appendix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3 — widen the lens from cost to what money doesn't capture. Short framing slide.</a:t>
            </a:r>
          </a:p>
          <a:p>
            <a:r>
              <a:t>• The core: two options can cost the SAME and carry very different RISK. Risk &amp; Impact is the</a:t>
            </a:r>
          </a:p>
          <a:p>
            <a:r>
              <a:t>qualitative complement to the CBA — the intangibles, and the things that could go wrong.</a:t>
            </a:r>
          </a:p>
          <a:p>
            <a:r>
              <a:t>• Set the section shape: an intangibles comparison (next slide) plus a risk register (the one after).</a:t>
            </a:r>
          </a:p>
          <a:p>
            <a:r>
              <a:t>Together with the CBA, they form the full evidence base.</a:t>
            </a:r>
          </a:p>
          <a:p>
            <a:r>
              <a:t>• Consultant framing: a recommendation built on cost alone is fragile; the board will ask "what could</a:t>
            </a:r>
          </a:p>
          <a:p>
            <a:r>
              <a:t>go wrong?" and you need an answer ready.</a:t>
            </a:r>
          </a:p>
          <a:p>
            <a:r>
              <a:t>Misconception to pre-empt: "the CBA settles it." No — cost is necessary but not sufficient; a cheaper</a:t>
            </a:r>
          </a:p>
          <a:p>
            <a:r>
              <a:t>option can carry unacceptable risk or lose on intangibles. The number is half the story.</a:t>
            </a:r>
          </a:p>
          <a:p>
            <a:r>
              <a:t>Question to pose: "Two Ledgerline options cost the same over 5 years — what would still make you</a:t>
            </a:r>
          </a:p>
          <a:p>
            <a:r>
              <a:t>prefer one over the other?" (skills, lock-in, continuity, disruption — the intangibles).</a:t>
            </a:r>
          </a:p>
          <a:p>
            <a:r>
              <a:t>UoC/AT1 tie: PC 2.1 (impact against strategic objectives) → AT1 §7.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qualitative comparison — the value and cost a dollar figure misses. Per option, side by side.</a:t>
            </a:r>
          </a:p>
          <a:p>
            <a:r>
              <a:t>• Walk the factors: staff skills / learning curve, vendor lock-in, agility &amp; scalability, security</a:t>
            </a:r>
          </a:p>
          <a:p>
            <a:r>
              <a:t>posture, business continuity, disruption during change — assessed for each option.</a:t>
            </a:r>
          </a:p>
          <a:p>
            <a:r>
              <a:t>• The accent line: the CHEAPER option may carry the bigger intangible cost. A slightly dearer path</a:t>
            </a:r>
          </a:p>
          <a:p>
            <a:r>
              <a:t>can be the better decision once lock-in or continuity is weighed.</a:t>
            </a:r>
          </a:p>
          <a:p>
            <a:r>
              <a:t>• Tie to YAT: a small RTO's thin cloud skills (learning curve) and the disruption of cutting Ledgerline</a:t>
            </a:r>
          </a:p>
          <a:p>
            <a:r>
              <a:t>over are real intangibles — name them for THIS client, not generically.</a:t>
            </a:r>
          </a:p>
          <a:p>
            <a:r>
              <a:t>Misconception to pre-empt: "intangible means unimportant / can't be assessed." No — intangibles are</a:t>
            </a:r>
          </a:p>
          <a:p>
            <a:r>
              <a:t>often decisive; you can't put a clean dollar on them but you can compare them explicitly and reason.</a:t>
            </a:r>
          </a:p>
          <a:p>
            <a:r>
              <a:t>Question to pose: "Which intangible would weigh heaviest for YAT specifically — and why?" (draws out</a:t>
            </a:r>
          </a:p>
          <a:p>
            <a:r>
              <a:t>client-specific reasoning over textbook lists).</a:t>
            </a:r>
          </a:p>
          <a:p>
            <a:r>
              <a:t>UoC/AT1 tie: PC 2.1 → AT1 §7.1 (intangibles comparison).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risk register — the discipline of naming what could go wrong and what you'd do about it.</a:t>
            </a:r>
          </a:p>
          <a:p>
            <a:r>
              <a:t>• Walk the columns: Risk → Likelihood → Impact → Mitigation, for the direction you're heading. Keep it</a:t>
            </a:r>
          </a:p>
          <a:p>
            <a:r>
              <a:t>SPECIFIC to this migration: data-migration error, cutover downtime, cost overrun, skills gap.</a:t>
            </a:r>
          </a:p>
          <a:p>
            <a:r>
              <a:t>• The accent line: a risk with no mitigation is just a WORRY; a mitigation makes it manageable. The</a:t>
            </a:r>
          </a:p>
          <a:p>
            <a:r>
              <a:t>mitigation column is what turns anxiety into a plan.</a:t>
            </a:r>
          </a:p>
          <a:p>
            <a:r>
              <a:t>• Push specificity: "the project might fail" is useless; "data corrupted during migration → mitigate</a:t>
            </a:r>
          </a:p>
          <a:p>
            <a:r>
              <a:t>with a validated test migration + rollback plan" is a real, markable entry.</a:t>
            </a:r>
          </a:p>
          <a:p>
            <a:r>
              <a:t>Misconception to pre-empt: that listing risks makes an option look weak. No — naming and mitigating</a:t>
            </a:r>
          </a:p>
          <a:p>
            <a:r>
              <a:t>risks makes the case STRONGER; unnamed risks are the ones that sink projects.</a:t>
            </a:r>
          </a:p>
          <a:p>
            <a:r>
              <a:t>Question to pose: "Name one concrete risk of moving Ledgerline to cloud — and what you'd actually do</a:t>
            </a:r>
          </a:p>
          <a:p>
            <a:r>
              <a:t>to reduce it." (forces a real risk→mitigation pair).</a:t>
            </a:r>
          </a:p>
          <a:p>
            <a:r>
              <a:t>UoC/AT1 tie: PC 2.1 (impact/risk) → AT1 §7.2 (risk register).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3 practice; students complete AT1 §7 on the practice case.</a:t>
            </a:r>
          </a:p>
          <a:p>
            <a:r>
              <a:t>Tell students: "In your working copy of the Business Case, add the Risk and Impact Assessment (§7) for</a:t>
            </a:r>
          </a:p>
          <a:p>
            <a:r>
              <a:t>the Accounting System. Specific risks, real mitigations — not generic 'things might go wrong'."</a:t>
            </a:r>
          </a:p>
          <a:p>
            <a:r>
              <a:t>Steps (put on the board):</a:t>
            </a:r>
          </a:p>
          <a:p>
            <a:r>
              <a:t>1. Compare the intangibles of Option A (renew on-prem) vs Option B (migrate to cloud).</a:t>
            </a:r>
          </a:p>
          <a:p>
            <a:r>
              <a:t>2. Build a risk register (risk → likelihood → impact → mitigation) for the cloud direction.</a:t>
            </a:r>
          </a:p>
          <a:p>
            <a:r>
              <a:t>Must produce: ~½–1 page — a per-option intangibles comparison plus a risk register with a real</a:t>
            </a:r>
          </a:p>
          <a:p>
            <a:r>
              <a:t>mitigation for every risk, specific to this migration.</a:t>
            </a:r>
          </a:p>
          <a:p>
            <a:r>
              <a:t>Timing: ~20 min then discuss. Where they get stuck: writing vague risks ("it might be hard") — push</a:t>
            </a:r>
          </a:p>
          <a:p>
            <a:r>
              <a:t>for a named risk with a likelihood, an impact and a concrete mitigation.</a:t>
            </a:r>
          </a:p>
          <a:p>
            <a:r>
              <a:t>Share-back prompt: take one group's biggest risk and ask the room whether the mitigation actually</a:t>
            </a:r>
          </a:p>
          <a:p>
            <a:r>
              <a:t>reduces it.</a:t>
            </a:r>
          </a:p>
          <a:p>
            <a:r>
              <a:t>No-leakage note: practice §7 on Ledgerline; AT1 assesses the same skill on the LMS — comparable, not</a:t>
            </a:r>
          </a:p>
          <a:p>
            <a:r>
              <a:t>identical.</a:t>
            </a:r>
          </a:p>
          <a:p>
            <a:r>
              <a:t>UoC/AT1 tie: PC 2.1 → AT1 §7; completes the §5–§7 evidence base built across this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03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Building the evidence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Options, cost and risk — the case a board can act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diagnosis to evidence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you've proved the problem — now build the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board doesn't fund a problem — it funds a well-evidenced answer.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Three moves: lay out the options → cost them over time → weigh the risks.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These become the next sections of the same business case.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still don't recommend yet — you assemble the evidence a recommendation rests 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Options &amp; evaluation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compare before you choose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You don't recommend until you've compared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single proposal isn't a case — it's an assertion.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Credible advice compares realistic options on a level field.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Your job here: lay the options out and evaluate them — not pick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Define the workload first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options are judged against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Before comparing options, state what any option must satisfy — from your gap analysis + the migration requirements: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capacity &amp; peaks · availability target · recovery (RPO/RTO)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data residency &amp; retention · integrations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Write it down first — it's the yardstick every option is measured against.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Identify the realistic options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Keep the option set honest and small: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Option A — renew / stay on-prem (the status-quo baseline)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Option B — migrate to the cloud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Name a third only if it's genuinely real.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Every comparison needs the status-quo option — or “moving” has nothing to beat.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Choosing an evaluation method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criteria, not gut feel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Evaluate each option on two stated lenses: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Impact against the strategic objectives — does it move the org toward its goals?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Difficulty of implementing — effort, disruption, skills, dependencies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Score each option on each lens and show your reasoning. (Cost comes next.)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Impact &amp; difficulty — a first 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simple matrix communicates it: each option × {impact, difficulty}.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High impact + low difficulty = strong candidate.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High impact + high difficulty = real, but plan for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is the qualitative shortlist — the CBA and risk sections test it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Define the options &amp; evaluate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 your working copy of the Business Case, add the Options Considered and Evaluation section for the Accounting System (Ledgerline).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State the workload/requirements an option must satisfy (from your gap table + migration reqs).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Lay out Option A (renew on-prem) and Option B (migrate to cloud).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Pick an evaluation method; assess each option's impact (vs objectives) and difficulty.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~½–1 page.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Evaluate, don't decide — the recommendation comes later.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min, then we discuss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Options &amp;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Compare realistic options on a level field — always include the status-quo.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Define the workload/requirements first; options are judged against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Evaluate on stated criteria: impact vs objectives + implementation difficulty.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This is evaluation, not the decision.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Cost-Benefit Analysis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put a number on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Put a number on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CBA compares the options in money, over time — here, 5 years.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turns “cloud feels cheaper” into evidence — or disproves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board decides on total cost + benefit, not a monthly price.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a good CBA contains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becomes §6 + Appendix 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Assumptions → per-option 5-year costs → benefits (incl. avoided downtime) → comparison.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Compare like-for-like over the same horizon.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State every assumption — an unstated assumption is a hole in the case.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Detailed line items go in Appendix 1; the section shows the summary.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Costing the on-prem option (Option A)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Option A = renew / keep on-prem. Cost it from the operational-costing facts: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capex (server refresh) + opex (power, maintenance, licences, admin time), over 5 years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Watch software licensing (Windows / SQL Server) — it rides on BOTH options; don't drop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AWS Pricing Calculator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size the cloud option before you build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Use it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estimate monthly costs and find ways to reduce them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model a solution before building it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find instance types &amp; contract terms; group services into an estimate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calculator.aws</a:t>
            </a:r>
          </a:p>
        </p:txBody>
      </p:sp>
      <p:pic>
        <p:nvPicPr>
          <p:cNvPr id="5" name="Picture 4" descr="03-pricing-calc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97709"/>
            <a:ext cx="5120640" cy="29941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Build a cost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 groups, use the AWS Pricing Calculator + the supplied specifications to build a cost estimate for the cloud option.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Size the Accounting System's compute, storage, database and data transfer.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Name your estimate; group the services; capture the monthly + annual figures.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Be ready to report your findings back to the class.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This estimate feeds your CBA (Option B).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🔗  calculator.aws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min, then report 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Assembling the CBA — comparing the options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part the calculator doesn't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5-year comparison summary: Option A vs Option B, like-for-like.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Avoided-downtime benefit — value the reliability gain, don't just assert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State the assumptions the comparison rests on — an unstated assumption is an unexamined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Build the 5-year CBA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 your working copy of the Business Case, add the Cost-Benefit Analysis (§6) + Appendix 1 for the Accounting System.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Cost Option A (renew on-prem) from the operational-costing doc.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Size Option B using your Pricing Calculator estimate.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State assumptions and their sources; build the 5-year comparison; add avoided-downtime.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~1 page + Appendix 1 line items.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Like-for-like, same horizon; every figure traceable to an assumption or 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min, then we compare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Cost-Benefit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CBA compares options in money over a fixed horizon — total cost + benefit, not a monthly price.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State every assumption; detail goes in Appendix 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Size the cloud option with the Pricing Calculator; assemble the comparison yourself.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Always include the avoided-downtime benefit, and state where each assumption came from.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Risk &amp; impact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what money doesn't capture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Money isn't the whole 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Two options can cost the same and carry very different risk.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Risk &amp; Impact is the qualitative complement to the CBA: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the intangibles, and the things that could go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Intangibles comparison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what a dollar figure misses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Name the qualitative factors, per option: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staff skills / learning curve · vendor lock-in · agility &amp; scalability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security posture · business continuity · disruption during change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cheaper option may carry the bigger intangible cost.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risk register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For the direction you're heading, list the real risks: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Risk → Likelihood → Impact → Mitigation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Keep it specific to this migration: data-migration error, cutover downtime, cost overrun, skills gap.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risk with no mitigation is just a worry; a mitigation makes it manageable.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Add the Risk &amp; Impact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 your working copy of the Business Case, add the Risk and Impact Assessment (§7) for the Accounting System.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Compare the intangibles of Option A vs Option B.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Build a risk register (risk → likelihood → impact → mitigation) for the cloud direction.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~½–1 page.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Specific risks with real mitigations — not generic “things might go wrong”.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min, then we discuss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Risk &amp;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Cost isn't everything — compare the intangibles too.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risk register: risk → likelihood → impact → mitigation, specific to this change.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Together with the CBA, this is the full evidence base for a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From evidence to decision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You've built the evidence: options laid out, costed over 5 years, risks weighed.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That's the analytical core of a business case — everything a board needs to choose.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still haven't recommended — that's the next move.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Next: make the call, justify it, and turn it into an action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